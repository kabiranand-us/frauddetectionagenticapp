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58"/>
    <p:restoredTop sz="94694"/>
  </p:normalViewPr>
  <p:slideViewPr>
    <p:cSldViewPr snapToGrid="0" snapToObjects="1">
      <p:cViewPr varScale="1">
        <p:scale>
          <a:sx n="121" d="100"/>
          <a:sy n="121" d="100"/>
        </p:scale>
        <p:origin x="184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4213D"/>
                </a:solidFill>
                <a:latin typeface="Calibri"/>
              </a:rPr>
              <a:t>Recall: share of all fraud caught (%)</a:t>
            </a:r>
          </a:p>
        </c:rich>
      </c:tx>
      <c:overlay val="0"/>
    </c:title>
    <c:autoTitleDeleted val="0"/>
    <c:plotArea>
      <c:layout/>
      <c:barChart>
        <c:barDir val="col"/>
        <c:grouping val="clustered"/>
        <c:varyColors val="1"/>
        <c:ser>
          <c:idx val="0"/>
          <c:order val="0"/>
          <c:tx>
            <c:strRef>
              <c:f>Sheet1!$B$1</c:f>
              <c:strCache>
                <c:ptCount val="1"/>
                <c:pt idx="0">
                  <c:v>Critical rules only</c:v>
                </c:pt>
              </c:strCache>
            </c:strRef>
          </c:tx>
          <c:spPr>
            <a:solidFill>
              <a:srgbClr val="14213D"/>
            </a:solidFill>
          </c:spPr>
          <c:invertIfNegative val="1"/>
          <c:dLbls>
            <c:numFmt formatCode="0" sourceLinked="0"/>
            <c:spPr>
              <a:noFill/>
              <a:ln>
                <a:noFill/>
              </a:ln>
              <a:effectLst/>
            </c:spPr>
            <c:txPr>
              <a:bodyPr/>
              <a:lstStyle/>
              <a:p>
                <a:pPr>
                  <a:defRPr sz="1000">
                    <a:solidFill>
                      <a:srgbClr val="1B243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Payments</c:v>
                </c:pt>
                <c:pt idx="1">
                  <c:v>Policies</c:v>
                </c:pt>
                <c:pt idx="2">
                  <c:v>Ghost broking</c:v>
                </c:pt>
                <c:pt idx="3">
                  <c:v>Claims</c:v>
                </c:pt>
              </c:strCache>
            </c:strRef>
          </c:cat>
          <c:val>
            <c:numRef>
              <c:f>Sheet1!$B$2:$B$5</c:f>
              <c:numCache>
                <c:formatCode>General</c:formatCode>
                <c:ptCount val="4"/>
                <c:pt idx="0">
                  <c:v>100</c:v>
                </c:pt>
                <c:pt idx="1">
                  <c:v>55.5</c:v>
                </c:pt>
                <c:pt idx="2">
                  <c:v>28.1</c:v>
                </c:pt>
                <c:pt idx="3">
                  <c:v>29.3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4B5-DE49-B52B-07ACF553DFBF}"/>
            </c:ext>
          </c:extLst>
        </c:ser>
        <c:ser>
          <c:idx val="1"/>
          <c:order val="1"/>
          <c:tx>
            <c:strRef>
              <c:f>Sheet1!$C$1</c:f>
              <c:strCache>
                <c:ptCount val="1"/>
                <c:pt idx="0">
                  <c:v>High and critical</c:v>
                </c:pt>
              </c:strCache>
            </c:strRef>
          </c:tx>
          <c:spPr>
            <a:solidFill>
              <a:srgbClr val="1F7A74"/>
            </a:solidFill>
          </c:spPr>
          <c:invertIfNegative val="1"/>
          <c:dLbls>
            <c:numFmt formatCode="0" sourceLinked="0"/>
            <c:spPr>
              <a:noFill/>
              <a:ln>
                <a:noFill/>
              </a:ln>
              <a:effectLst/>
            </c:spPr>
            <c:txPr>
              <a:bodyPr/>
              <a:lstStyle/>
              <a:p>
                <a:pPr>
                  <a:defRPr sz="1000">
                    <a:solidFill>
                      <a:srgbClr val="1B243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Payments</c:v>
                </c:pt>
                <c:pt idx="1">
                  <c:v>Policies</c:v>
                </c:pt>
                <c:pt idx="2">
                  <c:v>Ghost broking</c:v>
                </c:pt>
                <c:pt idx="3">
                  <c:v>Claims</c:v>
                </c:pt>
              </c:strCache>
            </c:strRef>
          </c:cat>
          <c:val>
            <c:numRef>
              <c:f>Sheet1!$C$2:$C$5</c:f>
              <c:numCache>
                <c:formatCode>General</c:formatCode>
                <c:ptCount val="4"/>
                <c:pt idx="0">
                  <c:v>100</c:v>
                </c:pt>
                <c:pt idx="1">
                  <c:v>74.8</c:v>
                </c:pt>
                <c:pt idx="2">
                  <c:v>95.4</c:v>
                </c:pt>
                <c:pt idx="3">
                  <c:v>29.3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4B5-DE49-B52B-07ACF553DFBF}"/>
            </c:ext>
          </c:extLst>
        </c:ser>
        <c:ser>
          <c:idx val="2"/>
          <c:order val="2"/>
          <c:tx>
            <c:strRef>
              <c:f>Sheet1!$D$1</c:f>
              <c:strCache>
                <c:ptCount val="1"/>
                <c:pt idx="0">
                  <c:v>All rules</c:v>
                </c:pt>
              </c:strCache>
            </c:strRef>
          </c:tx>
          <c:spPr>
            <a:solidFill>
              <a:srgbClr val="E09A2B"/>
            </a:solidFill>
          </c:spPr>
          <c:invertIfNegative val="1"/>
          <c:dLbls>
            <c:numFmt formatCode="0" sourceLinked="0"/>
            <c:spPr>
              <a:noFill/>
              <a:ln>
                <a:noFill/>
              </a:ln>
              <a:effectLst/>
            </c:spPr>
            <c:txPr>
              <a:bodyPr/>
              <a:lstStyle/>
              <a:p>
                <a:pPr>
                  <a:defRPr sz="1000">
                    <a:solidFill>
                      <a:srgbClr val="1B243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Payments</c:v>
                </c:pt>
                <c:pt idx="1">
                  <c:v>Policies</c:v>
                </c:pt>
                <c:pt idx="2">
                  <c:v>Ghost broking</c:v>
                </c:pt>
                <c:pt idx="3">
                  <c:v>Claims</c:v>
                </c:pt>
              </c:strCache>
            </c:strRef>
          </c:cat>
          <c:val>
            <c:numRef>
              <c:f>Sheet1!$D$2:$D$5</c:f>
              <c:numCache>
                <c:formatCode>General</c:formatCode>
                <c:ptCount val="4"/>
                <c:pt idx="0">
                  <c:v>100</c:v>
                </c:pt>
                <c:pt idx="1">
                  <c:v>93.5</c:v>
                </c:pt>
                <c:pt idx="2">
                  <c:v>95.4</c:v>
                </c:pt>
                <c:pt idx="3">
                  <c:v>82.6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4B5-DE49-B52B-07ACF553DFBF}"/>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AE0"/>
            </a:solidFill>
          </a:ln>
        </c:spPr>
        <c:txPr>
          <a:bodyPr/>
          <a:lstStyle/>
          <a:p>
            <a:pPr>
              <a:defRPr sz="1200">
                <a:solidFill>
                  <a:srgbClr val="1B2430"/>
                </a:solidFill>
              </a:defRPr>
            </a:pPr>
            <a:endParaRPr lang="en-US"/>
          </a:p>
        </c:txPr>
        <c:crossAx val="-2113994440"/>
        <c:crosses val="autoZero"/>
        <c:auto val="1"/>
        <c:lblAlgn val="ctr"/>
        <c:lblOffset val="100"/>
        <c:noMultiLvlLbl val="0"/>
      </c:catAx>
      <c:valAx>
        <c:axId val="-2113994440"/>
        <c:scaling>
          <c:orientation val="minMax"/>
          <c:max val="110"/>
        </c:scaling>
        <c:delete val="0"/>
        <c:axPos val="l"/>
        <c:majorGridlines>
          <c:spPr>
            <a:ln>
              <a:solidFill>
                <a:srgbClr val="D3DAE0"/>
              </a:solidFill>
            </a:ln>
          </c:spPr>
        </c:majorGridlines>
        <c:numFmt formatCode="General" sourceLinked="1"/>
        <c:majorTickMark val="out"/>
        <c:minorTickMark val="none"/>
        <c:tickLblPos val="nextTo"/>
        <c:spPr>
          <a:ln>
            <a:noFill/>
          </a:ln>
        </c:spPr>
        <c:txPr>
          <a:bodyPr/>
          <a:lstStyle/>
          <a:p>
            <a:pPr>
              <a:defRPr sz="1000">
                <a:solidFill>
                  <a:srgbClr val="5E6973"/>
                </a:solidFill>
              </a:defRPr>
            </a:pPr>
            <a:endParaRPr lang="en-US"/>
          </a:p>
        </c:txPr>
        <c:crossAx val="-2068027336"/>
        <c:crosses val="autoZero"/>
        <c:crossBetween val="between"/>
      </c:valAx>
    </c:plotArea>
    <c:legend>
      <c:legendPos val="b"/>
      <c:overlay val="0"/>
      <c:txPr>
        <a:bodyPr/>
        <a:lstStyle/>
        <a:p>
          <a:pPr>
            <a:defRPr sz="1100">
              <a:solidFill>
                <a:srgbClr val="5E6973"/>
              </a:solidFil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4213D"/>
                </a:solidFill>
                <a:latin typeface="Calibri"/>
              </a:rPr>
              <a:t>Share of each claim fraud type caught (%), rules + model</a:t>
            </a:r>
          </a:p>
        </c:rich>
      </c:tx>
      <c:overlay val="0"/>
    </c:title>
    <c:autoTitleDeleted val="0"/>
    <c:plotArea>
      <c:layout/>
      <c:barChart>
        <c:barDir val="bar"/>
        <c:grouping val="clustered"/>
        <c:varyColors val="1"/>
        <c:ser>
          <c:idx val="0"/>
          <c:order val="0"/>
          <c:tx>
            <c:strRef>
              <c:f>Sheet1!$B$1</c:f>
              <c:strCache>
                <c:ptCount val="1"/>
                <c:pt idx="0">
                  <c:v>Recall at 82% precision</c:v>
                </c:pt>
              </c:strCache>
            </c:strRef>
          </c:tx>
          <c:spPr>
            <a:solidFill>
              <a:srgbClr val="1F7A74"/>
            </a:solidFill>
          </c:spPr>
          <c:invertIfNegative val="1"/>
          <c:dPt>
            <c:idx val="2"/>
            <c:invertIfNegative val="1"/>
            <c:bubble3D val="0"/>
            <c:spPr>
              <a:solidFill>
                <a:srgbClr val="B03A2E"/>
              </a:solidFill>
            </c:spPr>
            <c:extLst>
              <c:ext xmlns:c16="http://schemas.microsoft.com/office/drawing/2014/chart" uri="{C3380CC4-5D6E-409C-BE32-E72D297353CC}">
                <c16:uniqueId val="{00000001-337D-0D4D-B43C-E54636201996}"/>
              </c:ext>
            </c:extLst>
          </c:dPt>
          <c:dPt>
            <c:idx val="3"/>
            <c:invertIfNegative val="1"/>
            <c:bubble3D val="0"/>
            <c:spPr>
              <a:solidFill>
                <a:srgbClr val="B03A2E"/>
              </a:solidFill>
            </c:spPr>
            <c:extLst>
              <c:ext xmlns:c16="http://schemas.microsoft.com/office/drawing/2014/chart" uri="{C3380CC4-5D6E-409C-BE32-E72D297353CC}">
                <c16:uniqueId val="{00000003-337D-0D4D-B43C-E54636201996}"/>
              </c:ext>
            </c:extLst>
          </c:dPt>
          <c:dPt>
            <c:idx val="4"/>
            <c:invertIfNegative val="1"/>
            <c:bubble3D val="0"/>
            <c:spPr>
              <a:solidFill>
                <a:srgbClr val="B03A2E"/>
              </a:solidFill>
            </c:spPr>
            <c:extLst>
              <c:ext xmlns:c16="http://schemas.microsoft.com/office/drawing/2014/chart" uri="{C3380CC4-5D6E-409C-BE32-E72D297353CC}">
                <c16:uniqueId val="{00000005-337D-0D4D-B43C-E54636201996}"/>
              </c:ext>
            </c:extLst>
          </c:dPt>
          <c:dLbls>
            <c:numFmt formatCode="0" sourceLinked="0"/>
            <c:spPr>
              <a:noFill/>
              <a:ln>
                <a:noFill/>
              </a:ln>
              <a:effectLst/>
            </c:spPr>
            <c:txPr>
              <a:bodyPr/>
              <a:lstStyle/>
              <a:p>
                <a:pPr>
                  <a:defRPr sz="11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Fake documents</c:v>
                </c:pt>
                <c:pt idx="1">
                  <c:v>Exaggerated amount</c:v>
                </c:pt>
                <c:pt idx="2">
                  <c:v>Early claim</c:v>
                </c:pt>
                <c:pt idx="3">
                  <c:v>Staged accident</c:v>
                </c:pt>
                <c:pt idx="4">
                  <c:v>Duplicate claims</c:v>
                </c:pt>
              </c:strCache>
            </c:strRef>
          </c:cat>
          <c:val>
            <c:numRef>
              <c:f>Sheet1!$B$2:$B$6</c:f>
              <c:numCache>
                <c:formatCode>General</c:formatCode>
                <c:ptCount val="5"/>
                <c:pt idx="0">
                  <c:v>100</c:v>
                </c:pt>
                <c:pt idx="1">
                  <c:v>69.7</c:v>
                </c:pt>
                <c:pt idx="2">
                  <c:v>11.5</c:v>
                </c:pt>
                <c:pt idx="3">
                  <c:v>7.7</c:v>
                </c:pt>
                <c:pt idx="4">
                  <c:v>3.8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337D-0D4D-B43C-E54636201996}"/>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3DAE0"/>
            </a:solidFill>
          </a:ln>
        </c:spPr>
        <c:txPr>
          <a:bodyPr/>
          <a:lstStyle/>
          <a:p>
            <a:pPr>
              <a:defRPr sz="1200"/>
            </a:pPr>
            <a:endParaRPr lang="en-US"/>
          </a:p>
        </c:txPr>
        <c:crossAx val="-2113994440"/>
        <c:crosses val="autoZero"/>
        <c:auto val="1"/>
        <c:lblAlgn val="ctr"/>
        <c:lblOffset val="100"/>
        <c:noMultiLvlLbl val="0"/>
      </c:catAx>
      <c:valAx>
        <c:axId val="-2113994440"/>
        <c:scaling>
          <c:orientation val="minMax"/>
          <c:max val="115"/>
          <c:min val="0"/>
        </c:scaling>
        <c:delete val="0"/>
        <c:axPos val="t"/>
        <c:majorGridlines>
          <c:spPr>
            <a:ln>
              <a:solidFill>
                <a:srgbClr val="D3DAE0"/>
              </a:solidFill>
            </a:ln>
          </c:spPr>
        </c:majorGridlines>
        <c:numFmt formatCode="General" sourceLinked="1"/>
        <c:majorTickMark val="out"/>
        <c:minorTickMark val="none"/>
        <c:tickLblPos val="nextTo"/>
        <c:spPr>
          <a:ln>
            <a:noFill/>
          </a:ln>
        </c:spPr>
        <c:txPr>
          <a:bodyPr/>
          <a:lstStyle/>
          <a:p>
            <a:pPr>
              <a:defRPr sz="1000">
                <a:solidFill>
                  <a:srgbClr val="5E6973"/>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400" b="1">
                <a:solidFill>
                  <a:srgbClr val="14213D"/>
                </a:solidFill>
                <a:latin typeface="Calibri"/>
              </a:rPr>
              <a:t>Fraud rate among records nothing flagged (%)</a:t>
            </a:r>
          </a:p>
        </c:rich>
      </c:tx>
      <c:overlay val="0"/>
    </c:title>
    <c:autoTitleDeleted val="0"/>
    <c:plotArea>
      <c:layout/>
      <c:barChart>
        <c:barDir val="col"/>
        <c:grouping val="clustered"/>
        <c:varyColors val="1"/>
        <c:ser>
          <c:idx val="0"/>
          <c:order val="0"/>
          <c:tx>
            <c:strRef>
              <c:f>Sheet1!$B$1</c:f>
              <c:strCache>
                <c:ptCount val="1"/>
                <c:pt idx="0">
                  <c:v>Fraud rate of unflagged records (%)</c:v>
                </c:pt>
              </c:strCache>
            </c:strRef>
          </c:tx>
          <c:spPr>
            <a:solidFill>
              <a:srgbClr val="5E6973"/>
            </a:solidFill>
          </c:spPr>
          <c:invertIfNegative val="1"/>
          <c:dPt>
            <c:idx val="0"/>
            <c:invertIfNegative val="1"/>
            <c:bubble3D val="0"/>
            <c:spPr>
              <a:solidFill>
                <a:srgbClr val="B03A2E"/>
              </a:solidFill>
            </c:spPr>
            <c:extLst>
              <c:ext xmlns:c16="http://schemas.microsoft.com/office/drawing/2014/chart" uri="{C3380CC4-5D6E-409C-BE32-E72D297353CC}">
                <c16:uniqueId val="{00000001-8370-C043-89CA-6BD41A41DA3D}"/>
              </c:ext>
            </c:extLst>
          </c:dPt>
          <c:dLbls>
            <c:numFmt formatCode="0.0" sourceLinked="0"/>
            <c:spPr>
              <a:noFill/>
              <a:ln>
                <a:noFill/>
              </a:ln>
              <a:effectLst/>
            </c:spPr>
            <c:txPr>
              <a:bodyPr/>
              <a:lstStyle/>
              <a:p>
                <a:pPr>
                  <a:defRPr sz="1400" b="1"/>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Hub agents</c:v>
                </c:pt>
                <c:pt idx="1">
                  <c:v>Other agents</c:v>
                </c:pt>
              </c:strCache>
            </c:strRef>
          </c:cat>
          <c:val>
            <c:numRef>
              <c:f>Sheet1!$B$2:$B$3</c:f>
              <c:numCache>
                <c:formatCode>General</c:formatCode>
                <c:ptCount val="2"/>
                <c:pt idx="0">
                  <c:v>12.3</c:v>
                </c:pt>
                <c:pt idx="1">
                  <c:v>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370-C043-89CA-6BD41A41DA3D}"/>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AE0"/>
            </a:solidFill>
          </a:ln>
        </c:spPr>
        <c:txPr>
          <a:bodyPr/>
          <a:lstStyle/>
          <a:p>
            <a:pPr>
              <a:defRPr sz="1300"/>
            </a:pPr>
            <a:endParaRPr lang="en-US"/>
          </a:p>
        </c:txPr>
        <c:crossAx val="-2113994440"/>
        <c:crosses val="autoZero"/>
        <c:auto val="1"/>
        <c:lblAlgn val="ctr"/>
        <c:lblOffset val="100"/>
        <c:noMultiLvlLbl val="0"/>
      </c:catAx>
      <c:valAx>
        <c:axId val="-2113994440"/>
        <c:scaling>
          <c:orientation val="minMax"/>
          <c:max val="15"/>
          <c:min val="0"/>
        </c:scaling>
        <c:delete val="0"/>
        <c:axPos val="l"/>
        <c:majorGridlines>
          <c:spPr>
            <a:ln>
              <a:solidFill>
                <a:srgbClr val="D3DAE0"/>
              </a:solidFill>
            </a:ln>
          </c:spPr>
        </c:majorGridlines>
        <c:numFmt formatCode="General" sourceLinked="1"/>
        <c:majorTickMark val="out"/>
        <c:minorTickMark val="none"/>
        <c:tickLblPos val="nextTo"/>
        <c:spPr>
          <a:ln>
            <a:noFill/>
          </a:ln>
        </c:spPr>
        <c:txPr>
          <a:bodyPr/>
          <a:lstStyle/>
          <a:p>
            <a:pPr>
              <a:defRPr sz="1000">
                <a:solidFill>
                  <a:srgbClr val="5E6973"/>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6730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Project work: an AI-agent system that detects and investigates insurance fraud.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design idea: cheap, exact methods (rules and a model) screen every record; the AI agents are only spent on alerts, where their strength (gathering context and explaining) matters; a person always makes the final decision, and those decisions feed back as new training labels.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layers, one data store. Every layer reads from and writes to BigQuery, so any stage can be re-run on its own. The four CSV files are synthetic, set in the Indian insurance market (rupees, Indian states, UPI and NEFT payments). Each has fraud_flag and fraud_type labels, which are used for training and testing only and are hidden from the AI agents and the dashboard.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Ghost broking is selling insurance without the right to: fake identities, expired or suspended licenses, or no license. Fronting means the named policyholder is a front for someone else. The free-look period is the legal window (15 days here) in which a new policy can be cancelled.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findings shaped the design. Automated tests enforce that label and outcome columns are never used. Because the data is synthetic, the pipeline carries over to real data but the exact accuracy numbers will not.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BigQuery was chosen over a local database (DuckDB) because the agents and dashboard are deployed on Google Cloud, and several services and users need to share the data safely.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BigQuery datasets, one per processing stage. The loader is safe to re-run, and every number matched the original CSV analysis exactly.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Precision is the share of flagged records that are really fraud; recall is the share of all fraud that gets flagged. Critical rules have 100% precision in every file. A candidate rule was dropped because its precision (21.5%) was barely above the 18% base rate.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Cross-validated in five groups by agent. Top features: altered documents, claim-to-sum-insured ratio, days from policy start to incident, agent complaints and license problems. The model adds a little; no model can find fraud that leaves no trace in the data.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Built with Google's Agent Development Kit on Gemini 3.8 Flash. Specialists are exposed to the orchestrator as tools. The network agent is called when the alert's agent or customer is a network hub.</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reviewer checked 72 facts across 11 reviewed cases: 71 verified, 1 unverifiable because a tool did not return model scores (since fixed), and none contradicted. It made real corrections, such as removing fraud types that described the agent rather than the record. The one miss among five harder alerts was a policy cancelled in the free-look window that was labelled honest; the agents rated it high and recommended a hold, not a rejection.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entity risk table scores every agent and customer by their links to alerts. The labels were used only afterwards, to measure how much fraud sits among the unflagged records of hub agents.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console is a React app served by FastAPI. Access goes through a dedicated invoker service account, because Cloud Run does not accept identity tokens from personal gcloud logins in this setup.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main lesson: use each technique for what it does best, measure honestly against hidden labels, and keep a person in charge of the decision.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audience and invite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2084201" y="1920240"/>
            <a:ext cx="10515600" cy="1188720"/>
          </a:xfrm>
          <a:prstGeom prst="rect">
            <a:avLst/>
          </a:prstGeom>
          <a:noFill/>
        </p:spPr>
        <p:txBody>
          <a:bodyPr wrap="square" lIns="0" tIns="0" rIns="0" bIns="0" anchor="t">
            <a:spAutoFit/>
          </a:bodyPr>
          <a:lstStyle/>
          <a:p>
            <a:pPr algn="l">
              <a:spcAft>
                <a:spcPts val="0"/>
              </a:spcAft>
            </a:pPr>
            <a:r>
              <a:rPr sz="5600" b="1" i="0" dirty="0">
                <a:solidFill>
                  <a:srgbClr val="FFFFFF"/>
                </a:solidFill>
                <a:latin typeface="Cambria"/>
              </a:rPr>
              <a:t>Fraud Detection AI Agent</a:t>
            </a:r>
          </a:p>
        </p:txBody>
      </p:sp>
      <p:sp>
        <p:nvSpPr>
          <p:cNvPr id="3" name="TextBox 2"/>
          <p:cNvSpPr txBox="1"/>
          <p:nvPr/>
        </p:nvSpPr>
        <p:spPr>
          <a:xfrm>
            <a:off x="3976063" y="5917287"/>
            <a:ext cx="10058400" cy="548640"/>
          </a:xfrm>
          <a:prstGeom prst="rect">
            <a:avLst/>
          </a:prstGeom>
          <a:noFill/>
        </p:spPr>
        <p:txBody>
          <a:bodyPr wrap="square" lIns="0" tIns="0" rIns="0" bIns="0" anchor="t">
            <a:spAutoFit/>
          </a:bodyPr>
          <a:lstStyle/>
          <a:p>
            <a:pPr algn="l">
              <a:spcAft>
                <a:spcPts val="0"/>
              </a:spcAft>
            </a:pPr>
            <a:r>
              <a:rPr sz="2800" b="1" i="0" dirty="0">
                <a:solidFill>
                  <a:srgbClr val="E09A2B"/>
                </a:solidFill>
                <a:latin typeface="Calibri"/>
              </a:rPr>
              <a:t>Anand Kumar Singh</a:t>
            </a:r>
          </a:p>
        </p:txBody>
      </p:sp>
      <p:sp>
        <p:nvSpPr>
          <p:cNvPr id="4" name="TextBox 3"/>
          <p:cNvSpPr txBox="1"/>
          <p:nvPr/>
        </p:nvSpPr>
        <p:spPr>
          <a:xfrm>
            <a:off x="4687612" y="4343400"/>
            <a:ext cx="6193747" cy="430887"/>
          </a:xfrm>
          <a:prstGeom prst="rect">
            <a:avLst/>
          </a:prstGeom>
          <a:noFill/>
        </p:spPr>
        <p:txBody>
          <a:bodyPr wrap="square" lIns="0" tIns="0" rIns="0" bIns="0" anchor="t">
            <a:spAutoFit/>
          </a:bodyPr>
          <a:lstStyle/>
          <a:p>
            <a:pPr algn="l">
              <a:spcAft>
                <a:spcPts val="0"/>
              </a:spcAft>
            </a:pPr>
            <a:r>
              <a:rPr sz="2800" b="0" i="0" dirty="0">
                <a:solidFill>
                  <a:srgbClr val="FFFFFF"/>
                </a:solidFill>
                <a:latin typeface="Calibri"/>
              </a:rPr>
              <a:t>IIT </a:t>
            </a:r>
            <a:r>
              <a:rPr sz="2800" b="0" i="0" dirty="0" err="1">
                <a:solidFill>
                  <a:srgbClr val="FFFFFF"/>
                </a:solidFill>
                <a:latin typeface="Calibri"/>
              </a:rPr>
              <a:t>Bhilai</a:t>
            </a:r>
            <a:endParaRPr sz="2800" b="0" i="0" dirty="0">
              <a:solidFill>
                <a:srgbClr val="FFFFFF"/>
              </a:solidFill>
              <a:latin typeface="Calibri"/>
            </a:endParaRPr>
          </a:p>
        </p:txBody>
      </p:sp>
      <p:sp>
        <p:nvSpPr>
          <p:cNvPr id="5" name="TextBox 4"/>
          <p:cNvSpPr txBox="1"/>
          <p:nvPr/>
        </p:nvSpPr>
        <p:spPr>
          <a:xfrm>
            <a:off x="4687612" y="4846318"/>
            <a:ext cx="6193746" cy="307777"/>
          </a:xfrm>
          <a:prstGeom prst="rect">
            <a:avLst/>
          </a:prstGeom>
          <a:noFill/>
        </p:spPr>
        <p:txBody>
          <a:bodyPr wrap="square" lIns="0" tIns="0" rIns="0" bIns="0" anchor="t">
            <a:spAutoFit/>
          </a:bodyPr>
          <a:lstStyle/>
          <a:p>
            <a:pPr algn="l">
              <a:spcAft>
                <a:spcPts val="0"/>
              </a:spcAft>
            </a:pPr>
            <a:r>
              <a:rPr sz="2000" b="0" i="0" dirty="0">
                <a:solidFill>
                  <a:srgbClr val="C9D6EA"/>
                </a:solidFill>
                <a:latin typeface="Calibri"/>
              </a:rPr>
              <a:t>2024–2026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768096"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OVERVIEW</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Project overview</a:t>
            </a:r>
          </a:p>
        </p:txBody>
      </p:sp>
      <p:sp>
        <p:nvSpPr>
          <p:cNvPr id="4" name="TextBox 3"/>
          <p:cNvSpPr txBox="1"/>
          <p:nvPr/>
        </p:nvSpPr>
        <p:spPr>
          <a:xfrm>
            <a:off x="548640" y="1691640"/>
            <a:ext cx="5852160" cy="1097280"/>
          </a:xfrm>
          <a:prstGeom prst="rect">
            <a:avLst/>
          </a:prstGeom>
          <a:noFill/>
        </p:spPr>
        <p:txBody>
          <a:bodyPr wrap="square" lIns="0" tIns="0" rIns="0" bIns="0" anchor="t">
            <a:spAutoFit/>
          </a:bodyPr>
          <a:lstStyle/>
          <a:p>
            <a:pPr algn="l">
              <a:spcAft>
                <a:spcPts val="0"/>
              </a:spcAft>
            </a:pPr>
            <a:r>
              <a:rPr sz="1500" b="1" i="0">
                <a:solidFill>
                  <a:srgbClr val="14213D"/>
                </a:solidFill>
                <a:latin typeface="Calibri"/>
              </a:rPr>
              <a:t>Problem. </a:t>
            </a:r>
            <a:r>
              <a:rPr sz="1500" b="0" i="0">
                <a:solidFill>
                  <a:srgbClr val="1B2430"/>
                </a:solidFill>
                <a:latin typeface="Calibri"/>
              </a:rPr>
              <a:t>Insurance fraud happens at every stage: when a policy is sold, when the premium is paid, and when a claim is made, by customers, agents, or people posing as agents.</a:t>
            </a:r>
          </a:p>
        </p:txBody>
      </p:sp>
      <p:sp>
        <p:nvSpPr>
          <p:cNvPr id="5" name="TextBox 4"/>
          <p:cNvSpPr txBox="1"/>
          <p:nvPr/>
        </p:nvSpPr>
        <p:spPr>
          <a:xfrm>
            <a:off x="548640" y="2788920"/>
            <a:ext cx="5852160" cy="914400"/>
          </a:xfrm>
          <a:prstGeom prst="rect">
            <a:avLst/>
          </a:prstGeom>
          <a:noFill/>
        </p:spPr>
        <p:txBody>
          <a:bodyPr wrap="square" lIns="0" tIns="0" rIns="0" bIns="0" anchor="t">
            <a:spAutoFit/>
          </a:bodyPr>
          <a:lstStyle/>
          <a:p>
            <a:pPr algn="l">
              <a:spcAft>
                <a:spcPts val="0"/>
              </a:spcAft>
            </a:pPr>
            <a:r>
              <a:rPr sz="1500" b="1" i="0">
                <a:solidFill>
                  <a:srgbClr val="14213D"/>
                </a:solidFill>
                <a:latin typeface="Calibri"/>
              </a:rPr>
              <a:t>Objective. </a:t>
            </a:r>
            <a:r>
              <a:rPr sz="1500" b="0" i="0">
                <a:solidFill>
                  <a:srgbClr val="1B2430"/>
                </a:solidFill>
                <a:latin typeface="Calibri"/>
              </a:rPr>
              <a:t>Find suspected fraud automatically, investigate it, and give a human investigator a clear, evidence-backed case to decide on.</a:t>
            </a:r>
          </a:p>
        </p:txBody>
      </p:sp>
      <p:sp>
        <p:nvSpPr>
          <p:cNvPr id="6" name="TextBox 5"/>
          <p:cNvSpPr txBox="1"/>
          <p:nvPr/>
        </p:nvSpPr>
        <p:spPr>
          <a:xfrm>
            <a:off x="548640" y="3749039"/>
            <a:ext cx="5852160" cy="365760"/>
          </a:xfrm>
          <a:prstGeom prst="rect">
            <a:avLst/>
          </a:prstGeom>
          <a:noFill/>
        </p:spPr>
        <p:txBody>
          <a:bodyPr wrap="square" lIns="0" tIns="0" rIns="0" bIns="0" anchor="t">
            <a:spAutoFit/>
          </a:bodyPr>
          <a:lstStyle/>
          <a:p>
            <a:pPr algn="l">
              <a:spcAft>
                <a:spcPts val="0"/>
              </a:spcAft>
            </a:pPr>
            <a:r>
              <a:rPr sz="1500" b="1" i="0">
                <a:solidFill>
                  <a:srgbClr val="14213D"/>
                </a:solidFill>
                <a:latin typeface="Calibri"/>
              </a:rPr>
              <a:t>Approach: each technique does what it is best at</a:t>
            </a:r>
          </a:p>
        </p:txBody>
      </p:sp>
      <p:sp>
        <p:nvSpPr>
          <p:cNvPr id="7" name="Rounded Rectangle 6"/>
          <p:cNvSpPr/>
          <p:nvPr/>
        </p:nvSpPr>
        <p:spPr>
          <a:xfrm>
            <a:off x="548640" y="4206240"/>
            <a:ext cx="1325880" cy="96012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4251959"/>
            <a:ext cx="1143000" cy="868680"/>
          </a:xfrm>
          <a:prstGeom prst="rect">
            <a:avLst/>
          </a:prstGeom>
          <a:noFill/>
        </p:spPr>
        <p:txBody>
          <a:bodyPr wrap="square" lIns="0" tIns="0" rIns="0" bIns="0" anchor="ctr">
            <a:spAutoFit/>
          </a:bodyPr>
          <a:lstStyle/>
          <a:p>
            <a:pPr algn="ctr">
              <a:spcAft>
                <a:spcPts val="200"/>
              </a:spcAft>
            </a:pPr>
            <a:r>
              <a:rPr sz="1300" b="1" i="0" dirty="0">
                <a:solidFill>
                  <a:srgbClr val="1B2430"/>
                </a:solidFill>
                <a:latin typeface="Calibri"/>
              </a:rPr>
              <a:t>Rules</a:t>
            </a:r>
          </a:p>
          <a:p>
            <a:pPr algn="ctr">
              <a:spcAft>
                <a:spcPts val="200"/>
              </a:spcAft>
            </a:pPr>
            <a:r>
              <a:rPr sz="1000" b="0" i="0" dirty="0">
                <a:solidFill>
                  <a:srgbClr val="5E6973"/>
                </a:solidFill>
                <a:latin typeface="Calibri"/>
              </a:rPr>
              <a:t>catch the certain cases</a:t>
            </a:r>
          </a:p>
        </p:txBody>
      </p:sp>
      <p:cxnSp>
        <p:nvCxnSpPr>
          <p:cNvPr id="9" name="Connector 8"/>
          <p:cNvCxnSpPr/>
          <p:nvPr/>
        </p:nvCxnSpPr>
        <p:spPr>
          <a:xfrm>
            <a:off x="1883664" y="4681728"/>
            <a:ext cx="13716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029968" y="4206240"/>
            <a:ext cx="1325880" cy="96012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121408" y="4251959"/>
            <a:ext cx="1143000" cy="868680"/>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ML model</a:t>
            </a:r>
          </a:p>
          <a:p>
            <a:pPr algn="ctr">
              <a:spcAft>
                <a:spcPts val="200"/>
              </a:spcAft>
            </a:pPr>
            <a:r>
              <a:rPr sz="1000" b="0" i="0">
                <a:solidFill>
                  <a:srgbClr val="5E6973"/>
                </a:solidFill>
                <a:latin typeface="Calibri"/>
              </a:rPr>
              <a:t>scores every claim</a:t>
            </a:r>
          </a:p>
        </p:txBody>
      </p:sp>
      <p:cxnSp>
        <p:nvCxnSpPr>
          <p:cNvPr id="12" name="Connector 11"/>
          <p:cNvCxnSpPr/>
          <p:nvPr/>
        </p:nvCxnSpPr>
        <p:spPr>
          <a:xfrm>
            <a:off x="3364992" y="4681728"/>
            <a:ext cx="13716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511296" y="4206240"/>
            <a:ext cx="1325880" cy="96012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602736" y="4251959"/>
            <a:ext cx="1143000" cy="868680"/>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AI agents</a:t>
            </a:r>
          </a:p>
          <a:p>
            <a:pPr algn="ctr">
              <a:spcAft>
                <a:spcPts val="200"/>
              </a:spcAft>
            </a:pPr>
            <a:r>
              <a:rPr sz="1000" b="0" i="0">
                <a:solidFill>
                  <a:srgbClr val="5E6973"/>
                </a:solidFill>
                <a:latin typeface="Calibri"/>
              </a:rPr>
              <a:t>investigate and explain</a:t>
            </a:r>
          </a:p>
        </p:txBody>
      </p:sp>
      <p:cxnSp>
        <p:nvCxnSpPr>
          <p:cNvPr id="15" name="Connector 14"/>
          <p:cNvCxnSpPr/>
          <p:nvPr/>
        </p:nvCxnSpPr>
        <p:spPr>
          <a:xfrm>
            <a:off x="4846320" y="4681728"/>
            <a:ext cx="137160" cy="0"/>
          </a:xfrm>
          <a:prstGeom prst="line">
            <a:avLst/>
          </a:prstGeom>
          <a:ln w="1905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992624" y="4206240"/>
            <a:ext cx="1325880" cy="960120"/>
          </a:xfrm>
          <a:prstGeom prst="roundRect">
            <a:avLst>
              <a:gd name="adj" fmla="val 8000"/>
            </a:avLst>
          </a:prstGeom>
          <a:solidFill>
            <a:srgbClr val="F8E5E2"/>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084064" y="4251959"/>
            <a:ext cx="1143000" cy="868680"/>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Investigator</a:t>
            </a:r>
          </a:p>
          <a:p>
            <a:pPr algn="ctr">
              <a:spcAft>
                <a:spcPts val="200"/>
              </a:spcAft>
            </a:pPr>
            <a:r>
              <a:rPr sz="1000" b="0" i="0">
                <a:solidFill>
                  <a:srgbClr val="5E6973"/>
                </a:solidFill>
                <a:latin typeface="Calibri"/>
              </a:rPr>
              <a:t>makes the decision</a:t>
            </a:r>
          </a:p>
        </p:txBody>
      </p:sp>
      <p:sp>
        <p:nvSpPr>
          <p:cNvPr id="18" name="TextBox 17"/>
          <p:cNvSpPr txBox="1"/>
          <p:nvPr/>
        </p:nvSpPr>
        <p:spPr>
          <a:xfrm>
            <a:off x="548640" y="5394960"/>
            <a:ext cx="5852160" cy="731520"/>
          </a:xfrm>
          <a:prstGeom prst="rect">
            <a:avLst/>
          </a:prstGeom>
          <a:noFill/>
        </p:spPr>
        <p:txBody>
          <a:bodyPr wrap="square" lIns="0" tIns="0" rIns="0" bIns="0" anchor="t">
            <a:spAutoFit/>
          </a:bodyPr>
          <a:lstStyle/>
          <a:p>
            <a:pPr algn="l">
              <a:spcAft>
                <a:spcPts val="0"/>
              </a:spcAft>
            </a:pPr>
            <a:r>
              <a:rPr sz="1300" b="0" i="0">
                <a:solidFill>
                  <a:srgbClr val="5E6973"/>
                </a:solidFill>
                <a:latin typeface="Calibri"/>
              </a:rPr>
              <a:t>Built on Google Cloud: BigQuery for data, Gemini on Vertex AI for the agents (Google Agent Development Kit), and Cloud Run for the investigator dashboard.</a:t>
            </a:r>
          </a:p>
        </p:txBody>
      </p:sp>
      <p:sp>
        <p:nvSpPr>
          <p:cNvPr id="19" name="Rounded Rectangle 18"/>
          <p:cNvSpPr/>
          <p:nvPr/>
        </p:nvSpPr>
        <p:spPr>
          <a:xfrm>
            <a:off x="6858000" y="1691640"/>
            <a:ext cx="4754880" cy="44348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dirty="0"/>
          </a:p>
        </p:txBody>
      </p:sp>
      <p:sp>
        <p:nvSpPr>
          <p:cNvPr id="20" name="TextBox 19"/>
          <p:cNvSpPr txBox="1"/>
          <p:nvPr/>
        </p:nvSpPr>
        <p:spPr>
          <a:xfrm>
            <a:off x="7132320" y="1874519"/>
            <a:ext cx="4206240" cy="365760"/>
          </a:xfrm>
          <a:prstGeom prst="rect">
            <a:avLst/>
          </a:prstGeom>
          <a:noFill/>
        </p:spPr>
        <p:txBody>
          <a:bodyPr wrap="square" lIns="0" tIns="0" rIns="0" bIns="0" anchor="t">
            <a:spAutoFit/>
          </a:bodyPr>
          <a:lstStyle/>
          <a:p>
            <a:pPr algn="l">
              <a:spcAft>
                <a:spcPts val="0"/>
              </a:spcAft>
            </a:pPr>
            <a:r>
              <a:rPr sz="1600" b="1" i="0">
                <a:solidFill>
                  <a:srgbClr val="E09A2B"/>
                </a:solidFill>
                <a:latin typeface="Calibri"/>
              </a:rPr>
              <a:t>At a glance</a:t>
            </a:r>
          </a:p>
        </p:txBody>
      </p:sp>
      <p:sp>
        <p:nvSpPr>
          <p:cNvPr id="21" name="TextBox 20"/>
          <p:cNvSpPr txBox="1"/>
          <p:nvPr/>
        </p:nvSpPr>
        <p:spPr>
          <a:xfrm>
            <a:off x="7132320" y="2377440"/>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4,000</a:t>
            </a:r>
          </a:p>
        </p:txBody>
      </p:sp>
      <p:sp>
        <p:nvSpPr>
          <p:cNvPr id="22" name="TextBox 21"/>
          <p:cNvSpPr txBox="1"/>
          <p:nvPr/>
        </p:nvSpPr>
        <p:spPr>
          <a:xfrm>
            <a:off x="8549640" y="2377440"/>
            <a:ext cx="2926080" cy="502920"/>
          </a:xfrm>
          <a:prstGeom prst="rect">
            <a:avLst/>
          </a:prstGeom>
          <a:noFill/>
        </p:spPr>
        <p:txBody>
          <a:bodyPr wrap="square" lIns="0" tIns="0" rIns="0" bIns="0" anchor="ctr">
            <a:spAutoFit/>
          </a:bodyPr>
          <a:lstStyle/>
          <a:p>
            <a:pPr algn="l">
              <a:spcAft>
                <a:spcPts val="0"/>
              </a:spcAft>
            </a:pPr>
            <a:r>
              <a:rPr sz="1300" b="0" i="0" dirty="0">
                <a:solidFill>
                  <a:srgbClr val="C9D6EA"/>
                </a:solidFill>
                <a:latin typeface="Calibri"/>
              </a:rPr>
              <a:t>labelled records in 4 files</a:t>
            </a:r>
          </a:p>
        </p:txBody>
      </p:sp>
      <p:sp>
        <p:nvSpPr>
          <p:cNvPr id="23" name="TextBox 22"/>
          <p:cNvSpPr txBox="1"/>
          <p:nvPr/>
        </p:nvSpPr>
        <p:spPr>
          <a:xfrm>
            <a:off x="7132320" y="2980944"/>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17</a:t>
            </a:r>
          </a:p>
        </p:txBody>
      </p:sp>
      <p:sp>
        <p:nvSpPr>
          <p:cNvPr id="24" name="TextBox 23"/>
          <p:cNvSpPr txBox="1"/>
          <p:nvPr/>
        </p:nvSpPr>
        <p:spPr>
          <a:xfrm>
            <a:off x="8549640" y="2980944"/>
            <a:ext cx="2926080" cy="502920"/>
          </a:xfrm>
          <a:prstGeom prst="rect">
            <a:avLst/>
          </a:prstGeom>
          <a:noFill/>
        </p:spPr>
        <p:txBody>
          <a:bodyPr wrap="square" lIns="0" tIns="0" rIns="0" bIns="0" anchor="ctr">
            <a:spAutoFit/>
          </a:bodyPr>
          <a:lstStyle/>
          <a:p>
            <a:pPr algn="l">
              <a:spcAft>
                <a:spcPts val="0"/>
              </a:spcAft>
            </a:pPr>
            <a:r>
              <a:rPr sz="1300" b="0" i="0" dirty="0">
                <a:solidFill>
                  <a:srgbClr val="C9D6EA"/>
                </a:solidFill>
                <a:latin typeface="Calibri"/>
              </a:rPr>
              <a:t>fraud types</a:t>
            </a:r>
          </a:p>
        </p:txBody>
      </p:sp>
      <p:sp>
        <p:nvSpPr>
          <p:cNvPr id="25" name="TextBox 24"/>
          <p:cNvSpPr txBox="1"/>
          <p:nvPr/>
        </p:nvSpPr>
        <p:spPr>
          <a:xfrm>
            <a:off x="7132320" y="3584448"/>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19</a:t>
            </a:r>
          </a:p>
        </p:txBody>
      </p:sp>
      <p:sp>
        <p:nvSpPr>
          <p:cNvPr id="26" name="TextBox 25"/>
          <p:cNvSpPr txBox="1"/>
          <p:nvPr/>
        </p:nvSpPr>
        <p:spPr>
          <a:xfrm>
            <a:off x="8549640" y="3584448"/>
            <a:ext cx="2926080" cy="502920"/>
          </a:xfrm>
          <a:prstGeom prst="rect">
            <a:avLst/>
          </a:prstGeom>
          <a:noFill/>
        </p:spPr>
        <p:txBody>
          <a:bodyPr wrap="square" lIns="0" tIns="0" rIns="0" bIns="0" anchor="ctr">
            <a:spAutoFit/>
          </a:bodyPr>
          <a:lstStyle/>
          <a:p>
            <a:pPr algn="l">
              <a:spcAft>
                <a:spcPts val="0"/>
              </a:spcAft>
            </a:pPr>
            <a:r>
              <a:rPr sz="1300" b="0" i="0">
                <a:solidFill>
                  <a:srgbClr val="C9D6EA"/>
                </a:solidFill>
                <a:latin typeface="Calibri"/>
              </a:rPr>
              <a:t>detection rules</a:t>
            </a:r>
          </a:p>
        </p:txBody>
      </p:sp>
      <p:sp>
        <p:nvSpPr>
          <p:cNvPr id="27" name="TextBox 26"/>
          <p:cNvSpPr txBox="1"/>
          <p:nvPr/>
        </p:nvSpPr>
        <p:spPr>
          <a:xfrm>
            <a:off x="7132320" y="4187952"/>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778</a:t>
            </a:r>
          </a:p>
        </p:txBody>
      </p:sp>
      <p:sp>
        <p:nvSpPr>
          <p:cNvPr id="28" name="TextBox 27"/>
          <p:cNvSpPr txBox="1"/>
          <p:nvPr/>
        </p:nvSpPr>
        <p:spPr>
          <a:xfrm>
            <a:off x="8549640" y="4187952"/>
            <a:ext cx="2926080" cy="502920"/>
          </a:xfrm>
          <a:prstGeom prst="rect">
            <a:avLst/>
          </a:prstGeom>
          <a:noFill/>
        </p:spPr>
        <p:txBody>
          <a:bodyPr wrap="square" lIns="0" tIns="0" rIns="0" bIns="0" anchor="ctr">
            <a:spAutoFit/>
          </a:bodyPr>
          <a:lstStyle/>
          <a:p>
            <a:pPr algn="l">
              <a:spcAft>
                <a:spcPts val="0"/>
              </a:spcAft>
            </a:pPr>
            <a:r>
              <a:rPr sz="1300" b="0" i="0">
                <a:solidFill>
                  <a:srgbClr val="C9D6EA"/>
                </a:solidFill>
                <a:latin typeface="Calibri"/>
              </a:rPr>
              <a:t>alerts raised for investigation</a:t>
            </a:r>
          </a:p>
        </p:txBody>
      </p:sp>
      <p:sp>
        <p:nvSpPr>
          <p:cNvPr id="29" name="TextBox 28"/>
          <p:cNvSpPr txBox="1"/>
          <p:nvPr/>
        </p:nvSpPr>
        <p:spPr>
          <a:xfrm>
            <a:off x="7132320" y="4791456"/>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8</a:t>
            </a:r>
          </a:p>
        </p:txBody>
      </p:sp>
      <p:sp>
        <p:nvSpPr>
          <p:cNvPr id="30" name="TextBox 29"/>
          <p:cNvSpPr txBox="1"/>
          <p:nvPr/>
        </p:nvSpPr>
        <p:spPr>
          <a:xfrm>
            <a:off x="8549640" y="4791456"/>
            <a:ext cx="2926080" cy="502920"/>
          </a:xfrm>
          <a:prstGeom prst="rect">
            <a:avLst/>
          </a:prstGeom>
          <a:noFill/>
        </p:spPr>
        <p:txBody>
          <a:bodyPr wrap="square" lIns="0" tIns="0" rIns="0" bIns="0" anchor="ctr">
            <a:spAutoFit/>
          </a:bodyPr>
          <a:lstStyle/>
          <a:p>
            <a:pPr algn="l">
              <a:spcAft>
                <a:spcPts val="0"/>
              </a:spcAft>
            </a:pPr>
            <a:r>
              <a:rPr sz="1300" b="0" i="0">
                <a:solidFill>
                  <a:srgbClr val="C9D6EA"/>
                </a:solidFill>
                <a:latin typeface="Calibri"/>
              </a:rPr>
              <a:t>AI agents working as a team</a:t>
            </a:r>
          </a:p>
        </p:txBody>
      </p:sp>
      <p:sp>
        <p:nvSpPr>
          <p:cNvPr id="31" name="TextBox 30"/>
          <p:cNvSpPr txBox="1"/>
          <p:nvPr/>
        </p:nvSpPr>
        <p:spPr>
          <a:xfrm>
            <a:off x="7132320" y="5394960"/>
            <a:ext cx="1371600" cy="502920"/>
          </a:xfrm>
          <a:prstGeom prst="rect">
            <a:avLst/>
          </a:prstGeom>
          <a:noFill/>
        </p:spPr>
        <p:txBody>
          <a:bodyPr wrap="square" lIns="0" tIns="0" rIns="0" bIns="0" anchor="ctr">
            <a:spAutoFit/>
          </a:bodyPr>
          <a:lstStyle/>
          <a:p>
            <a:pPr algn="l">
              <a:spcAft>
                <a:spcPts val="0"/>
              </a:spcAft>
            </a:pPr>
            <a:r>
              <a:rPr sz="2400" b="1" i="0">
                <a:solidFill>
                  <a:srgbClr val="FFFFFF"/>
                </a:solidFill>
                <a:latin typeface="Cambria"/>
              </a:rPr>
              <a:t>100%</a:t>
            </a:r>
          </a:p>
        </p:txBody>
      </p:sp>
      <p:sp>
        <p:nvSpPr>
          <p:cNvPr id="32" name="TextBox 31"/>
          <p:cNvSpPr txBox="1"/>
          <p:nvPr/>
        </p:nvSpPr>
        <p:spPr>
          <a:xfrm>
            <a:off x="8549640" y="5394960"/>
            <a:ext cx="2926080" cy="502920"/>
          </a:xfrm>
          <a:prstGeom prst="rect">
            <a:avLst/>
          </a:prstGeom>
          <a:noFill/>
        </p:spPr>
        <p:txBody>
          <a:bodyPr wrap="square" lIns="0" tIns="0" rIns="0" bIns="0" anchor="ctr">
            <a:spAutoFit/>
          </a:bodyPr>
          <a:lstStyle/>
          <a:p>
            <a:pPr algn="l">
              <a:spcAft>
                <a:spcPts val="0"/>
              </a:spcAft>
            </a:pPr>
            <a:r>
              <a:rPr sz="1300" b="0" i="0">
                <a:solidFill>
                  <a:srgbClr val="C9D6EA"/>
                </a:solidFill>
                <a:latin typeface="Calibri"/>
              </a:rPr>
              <a:t>of bad payments caught by rules</a:t>
            </a:r>
          </a:p>
        </p:txBody>
      </p:sp>
      <p:sp>
        <p:nvSpPr>
          <p:cNvPr id="33" name="TextBox 32"/>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34" name="TextBox 33"/>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p:bldP spid="13" grpId="0" animBg="1"/>
      <p:bldP spid="14" grpId="0"/>
      <p:bldP spid="16" grpId="0" animBg="1"/>
      <p:bldP spid="17" grpId="0"/>
      <p:bldP spid="19" grpId="0" animBg="1"/>
      <p:bldP spid="20" grpId="0"/>
      <p:bldP spid="22" grpId="0"/>
      <p:bldP spid="24" grpId="0"/>
      <p:bldP spid="26" grpId="0"/>
      <p:bldP spid="28" grpId="0"/>
      <p:bldP spid="30"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1078992"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ARCHITECTURE</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Architecture and data</a:t>
            </a:r>
          </a:p>
        </p:txBody>
      </p:sp>
      <p:sp>
        <p:nvSpPr>
          <p:cNvPr id="4" name="Rectangle 3"/>
          <p:cNvSpPr/>
          <p:nvPr/>
        </p:nvSpPr>
        <p:spPr>
          <a:xfrm>
            <a:off x="548640" y="1691640"/>
            <a:ext cx="7040880" cy="978408"/>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85800" y="1874520"/>
            <a:ext cx="1508760" cy="274320"/>
          </a:xfrm>
          <a:prstGeom prst="rect">
            <a:avLst/>
          </a:prstGeom>
          <a:noFill/>
        </p:spPr>
        <p:txBody>
          <a:bodyPr wrap="square" lIns="0" tIns="0" rIns="0" bIns="0" anchor="t">
            <a:spAutoFit/>
          </a:bodyPr>
          <a:lstStyle/>
          <a:p>
            <a:pPr algn="l">
              <a:spcAft>
                <a:spcPts val="0"/>
              </a:spcAft>
            </a:pPr>
            <a:r>
              <a:rPr sz="1200" b="1" i="0">
                <a:solidFill>
                  <a:srgbClr val="14213D"/>
                </a:solidFill>
                <a:latin typeface="Calibri"/>
              </a:rPr>
              <a:t>DATA</a:t>
            </a:r>
          </a:p>
        </p:txBody>
      </p:sp>
      <p:sp>
        <p:nvSpPr>
          <p:cNvPr id="6" name="TextBox 5"/>
          <p:cNvSpPr txBox="1"/>
          <p:nvPr/>
        </p:nvSpPr>
        <p:spPr>
          <a:xfrm>
            <a:off x="685800" y="2194560"/>
            <a:ext cx="150876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BigQuery</a:t>
            </a:r>
          </a:p>
        </p:txBody>
      </p:sp>
      <p:sp>
        <p:nvSpPr>
          <p:cNvPr id="7" name="Rounded Rectangle 6"/>
          <p:cNvSpPr/>
          <p:nvPr/>
        </p:nvSpPr>
        <p:spPr>
          <a:xfrm>
            <a:off x="2240280" y="1874520"/>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331720" y="1920240"/>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raw</a:t>
            </a:r>
          </a:p>
        </p:txBody>
      </p:sp>
      <p:sp>
        <p:nvSpPr>
          <p:cNvPr id="9" name="Rounded Rectangle 8"/>
          <p:cNvSpPr/>
          <p:nvPr/>
        </p:nvSpPr>
        <p:spPr>
          <a:xfrm>
            <a:off x="3566160" y="1874520"/>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657600" y="1920240"/>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clean</a:t>
            </a:r>
          </a:p>
        </p:txBody>
      </p:sp>
      <p:sp>
        <p:nvSpPr>
          <p:cNvPr id="11" name="Rounded Rectangle 10"/>
          <p:cNvSpPr/>
          <p:nvPr/>
        </p:nvSpPr>
        <p:spPr>
          <a:xfrm>
            <a:off x="4892040" y="1874520"/>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983479" y="1920240"/>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features</a:t>
            </a:r>
          </a:p>
        </p:txBody>
      </p:sp>
      <p:sp>
        <p:nvSpPr>
          <p:cNvPr id="13" name="Rounded Rectangle 12"/>
          <p:cNvSpPr/>
          <p:nvPr/>
        </p:nvSpPr>
        <p:spPr>
          <a:xfrm>
            <a:off x="6217920" y="1874520"/>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09359" y="1920240"/>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cases</a:t>
            </a:r>
          </a:p>
        </p:txBody>
      </p:sp>
      <p:cxnSp>
        <p:nvCxnSpPr>
          <p:cNvPr id="15" name="Connector 14"/>
          <p:cNvCxnSpPr/>
          <p:nvPr/>
        </p:nvCxnSpPr>
        <p:spPr>
          <a:xfrm>
            <a:off x="4069080" y="2670048"/>
            <a:ext cx="0" cy="13716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48640" y="2807208"/>
            <a:ext cx="7040880" cy="978408"/>
          </a:xfrm>
          <a:prstGeom prst="rect">
            <a:avLst/>
          </a:prstGeom>
          <a:solidFill>
            <a:srgbClr val="E2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685800" y="2990088"/>
            <a:ext cx="1508760" cy="274320"/>
          </a:xfrm>
          <a:prstGeom prst="rect">
            <a:avLst/>
          </a:prstGeom>
          <a:noFill/>
        </p:spPr>
        <p:txBody>
          <a:bodyPr wrap="square" lIns="0" tIns="0" rIns="0" bIns="0" anchor="t">
            <a:spAutoFit/>
          </a:bodyPr>
          <a:lstStyle/>
          <a:p>
            <a:pPr algn="l">
              <a:spcAft>
                <a:spcPts val="0"/>
              </a:spcAft>
            </a:pPr>
            <a:r>
              <a:rPr sz="1200" b="1" i="0">
                <a:solidFill>
                  <a:srgbClr val="14213D"/>
                </a:solidFill>
                <a:latin typeface="Calibri"/>
              </a:rPr>
              <a:t>DETECTION</a:t>
            </a:r>
          </a:p>
        </p:txBody>
      </p:sp>
      <p:sp>
        <p:nvSpPr>
          <p:cNvPr id="18" name="TextBox 17"/>
          <p:cNvSpPr txBox="1"/>
          <p:nvPr/>
        </p:nvSpPr>
        <p:spPr>
          <a:xfrm>
            <a:off x="685800" y="3310128"/>
            <a:ext cx="150876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Python + SQL</a:t>
            </a:r>
          </a:p>
        </p:txBody>
      </p:sp>
      <p:sp>
        <p:nvSpPr>
          <p:cNvPr id="19" name="Rounded Rectangle 18"/>
          <p:cNvSpPr/>
          <p:nvPr/>
        </p:nvSpPr>
        <p:spPr>
          <a:xfrm>
            <a:off x="2240280" y="2990088"/>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2331720" y="3035808"/>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19 rules</a:t>
            </a:r>
          </a:p>
        </p:txBody>
      </p:sp>
      <p:sp>
        <p:nvSpPr>
          <p:cNvPr id="21" name="Rounded Rectangle 20"/>
          <p:cNvSpPr/>
          <p:nvPr/>
        </p:nvSpPr>
        <p:spPr>
          <a:xfrm>
            <a:off x="3566160" y="2990088"/>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657600" y="3035808"/>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Claims ML</a:t>
            </a:r>
          </a:p>
        </p:txBody>
      </p:sp>
      <p:sp>
        <p:nvSpPr>
          <p:cNvPr id="23" name="Rounded Rectangle 22"/>
          <p:cNvSpPr/>
          <p:nvPr/>
        </p:nvSpPr>
        <p:spPr>
          <a:xfrm>
            <a:off x="4892040" y="2990088"/>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983479" y="3035808"/>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Alert queue</a:t>
            </a:r>
          </a:p>
        </p:txBody>
      </p:sp>
      <p:sp>
        <p:nvSpPr>
          <p:cNvPr id="25" name="Rounded Rectangle 24"/>
          <p:cNvSpPr/>
          <p:nvPr/>
        </p:nvSpPr>
        <p:spPr>
          <a:xfrm>
            <a:off x="6217920" y="2990088"/>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309359" y="3035808"/>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Networks</a:t>
            </a:r>
          </a:p>
        </p:txBody>
      </p:sp>
      <p:cxnSp>
        <p:nvCxnSpPr>
          <p:cNvPr id="27" name="Connector 26"/>
          <p:cNvCxnSpPr/>
          <p:nvPr/>
        </p:nvCxnSpPr>
        <p:spPr>
          <a:xfrm>
            <a:off x="4069080" y="3785616"/>
            <a:ext cx="0" cy="13716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3922776"/>
            <a:ext cx="7040880" cy="978408"/>
          </a:xfrm>
          <a:prstGeom prst="rect">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85800" y="4105656"/>
            <a:ext cx="1508760" cy="274320"/>
          </a:xfrm>
          <a:prstGeom prst="rect">
            <a:avLst/>
          </a:prstGeom>
          <a:noFill/>
        </p:spPr>
        <p:txBody>
          <a:bodyPr wrap="square" lIns="0" tIns="0" rIns="0" bIns="0" anchor="t">
            <a:spAutoFit/>
          </a:bodyPr>
          <a:lstStyle/>
          <a:p>
            <a:pPr algn="l">
              <a:spcAft>
                <a:spcPts val="0"/>
              </a:spcAft>
            </a:pPr>
            <a:r>
              <a:rPr sz="1200" b="1" i="0">
                <a:solidFill>
                  <a:srgbClr val="14213D"/>
                </a:solidFill>
                <a:latin typeface="Calibri"/>
              </a:rPr>
              <a:t>INVESTIGATION</a:t>
            </a:r>
          </a:p>
        </p:txBody>
      </p:sp>
      <p:sp>
        <p:nvSpPr>
          <p:cNvPr id="30" name="TextBox 29"/>
          <p:cNvSpPr txBox="1"/>
          <p:nvPr/>
        </p:nvSpPr>
        <p:spPr>
          <a:xfrm>
            <a:off x="685800" y="4425696"/>
            <a:ext cx="150876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Google ADK</a:t>
            </a:r>
          </a:p>
        </p:txBody>
      </p:sp>
      <p:sp>
        <p:nvSpPr>
          <p:cNvPr id="31" name="Rounded Rectangle 30"/>
          <p:cNvSpPr/>
          <p:nvPr/>
        </p:nvSpPr>
        <p:spPr>
          <a:xfrm>
            <a:off x="2240280" y="4105656"/>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2331720" y="4151376"/>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Orchestrator</a:t>
            </a:r>
          </a:p>
        </p:txBody>
      </p:sp>
      <p:sp>
        <p:nvSpPr>
          <p:cNvPr id="33" name="Rounded Rectangle 32"/>
          <p:cNvSpPr/>
          <p:nvPr/>
        </p:nvSpPr>
        <p:spPr>
          <a:xfrm>
            <a:off x="3566160" y="4105656"/>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3657600" y="4151376"/>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5 specialists</a:t>
            </a:r>
          </a:p>
        </p:txBody>
      </p:sp>
      <p:sp>
        <p:nvSpPr>
          <p:cNvPr id="35" name="Rounded Rectangle 34"/>
          <p:cNvSpPr/>
          <p:nvPr/>
        </p:nvSpPr>
        <p:spPr>
          <a:xfrm>
            <a:off x="4892040" y="4105656"/>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983479" y="4151376"/>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Case writer</a:t>
            </a:r>
          </a:p>
        </p:txBody>
      </p:sp>
      <p:sp>
        <p:nvSpPr>
          <p:cNvPr id="37" name="Rounded Rectangle 36"/>
          <p:cNvSpPr/>
          <p:nvPr/>
        </p:nvSpPr>
        <p:spPr>
          <a:xfrm>
            <a:off x="6217920" y="4105656"/>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309359" y="4151376"/>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Reviewer</a:t>
            </a:r>
          </a:p>
        </p:txBody>
      </p:sp>
      <p:cxnSp>
        <p:nvCxnSpPr>
          <p:cNvPr id="39" name="Connector 38"/>
          <p:cNvCxnSpPr/>
          <p:nvPr/>
        </p:nvCxnSpPr>
        <p:spPr>
          <a:xfrm>
            <a:off x="4069080" y="4901184"/>
            <a:ext cx="0" cy="13716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48640" y="5038344"/>
            <a:ext cx="7040880" cy="978408"/>
          </a:xfrm>
          <a:prstGeom prst="rect">
            <a:avLst/>
          </a:prstGeom>
          <a:solidFill>
            <a:srgbClr val="F8E5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85800" y="5221224"/>
            <a:ext cx="1508760" cy="274320"/>
          </a:xfrm>
          <a:prstGeom prst="rect">
            <a:avLst/>
          </a:prstGeom>
          <a:noFill/>
        </p:spPr>
        <p:txBody>
          <a:bodyPr wrap="square" lIns="0" tIns="0" rIns="0" bIns="0" anchor="t">
            <a:spAutoFit/>
          </a:bodyPr>
          <a:lstStyle/>
          <a:p>
            <a:pPr algn="l">
              <a:spcAft>
                <a:spcPts val="0"/>
              </a:spcAft>
            </a:pPr>
            <a:r>
              <a:rPr sz="1200" b="1" i="0">
                <a:solidFill>
                  <a:srgbClr val="14213D"/>
                </a:solidFill>
                <a:latin typeface="Calibri"/>
              </a:rPr>
              <a:t>DECISION</a:t>
            </a:r>
          </a:p>
        </p:txBody>
      </p:sp>
      <p:sp>
        <p:nvSpPr>
          <p:cNvPr id="42" name="TextBox 41"/>
          <p:cNvSpPr txBox="1"/>
          <p:nvPr/>
        </p:nvSpPr>
        <p:spPr>
          <a:xfrm>
            <a:off x="685800" y="5541264"/>
            <a:ext cx="150876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Cloud Run</a:t>
            </a:r>
          </a:p>
        </p:txBody>
      </p:sp>
      <p:sp>
        <p:nvSpPr>
          <p:cNvPr id="43" name="Rounded Rectangle 42"/>
          <p:cNvSpPr/>
          <p:nvPr/>
        </p:nvSpPr>
        <p:spPr>
          <a:xfrm>
            <a:off x="2240280" y="5221224"/>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2331720" y="5266944"/>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Dashboard</a:t>
            </a:r>
          </a:p>
        </p:txBody>
      </p:sp>
      <p:sp>
        <p:nvSpPr>
          <p:cNvPr id="45" name="Rounded Rectangle 44"/>
          <p:cNvSpPr/>
          <p:nvPr/>
        </p:nvSpPr>
        <p:spPr>
          <a:xfrm>
            <a:off x="3566160" y="5221224"/>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3657600" y="5266944"/>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Investigator</a:t>
            </a:r>
          </a:p>
        </p:txBody>
      </p:sp>
      <p:sp>
        <p:nvSpPr>
          <p:cNvPr id="47" name="Rounded Rectangle 46"/>
          <p:cNvSpPr/>
          <p:nvPr/>
        </p:nvSpPr>
        <p:spPr>
          <a:xfrm>
            <a:off x="4892040" y="5221224"/>
            <a:ext cx="1216152" cy="612648"/>
          </a:xfrm>
          <a:prstGeom prst="roundRect">
            <a:avLst>
              <a:gd name="adj" fmla="val 8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4983479" y="5266944"/>
            <a:ext cx="1033272" cy="521208"/>
          </a:xfrm>
          <a:prstGeom prst="rect">
            <a:avLst/>
          </a:prstGeom>
          <a:noFill/>
        </p:spPr>
        <p:txBody>
          <a:bodyPr wrap="square" lIns="0" tIns="0" rIns="0" bIns="0" anchor="ctr">
            <a:spAutoFit/>
          </a:bodyPr>
          <a:lstStyle/>
          <a:p>
            <a:pPr algn="ctr">
              <a:spcAft>
                <a:spcPts val="200"/>
              </a:spcAft>
            </a:pPr>
            <a:r>
              <a:rPr sz="1100" b="1" i="0">
                <a:solidFill>
                  <a:srgbClr val="1B2430"/>
                </a:solidFill>
                <a:latin typeface="Calibri"/>
              </a:rPr>
              <a:t>Feedback</a:t>
            </a:r>
          </a:p>
        </p:txBody>
      </p:sp>
      <p:sp>
        <p:nvSpPr>
          <p:cNvPr id="49" name="TextBox 48"/>
          <p:cNvSpPr txBox="1"/>
          <p:nvPr/>
        </p:nvSpPr>
        <p:spPr>
          <a:xfrm>
            <a:off x="548640" y="6199632"/>
            <a:ext cx="7040880" cy="228600"/>
          </a:xfrm>
          <a:prstGeom prst="rect">
            <a:avLst/>
          </a:prstGeom>
          <a:noFill/>
        </p:spPr>
        <p:txBody>
          <a:bodyPr wrap="square" lIns="0" tIns="0" rIns="0" bIns="0" anchor="t">
            <a:spAutoFit/>
          </a:bodyPr>
          <a:lstStyle/>
          <a:p>
            <a:pPr algn="l">
              <a:spcAft>
                <a:spcPts val="0"/>
              </a:spcAft>
            </a:pPr>
            <a:r>
              <a:rPr sz="1000" b="0" i="1">
                <a:solidFill>
                  <a:srgbClr val="5E6973"/>
                </a:solidFill>
                <a:latin typeface="Calibri"/>
              </a:rPr>
              <a:t>Data flows down; investigator decisions flow back up as new labels.</a:t>
            </a:r>
          </a:p>
        </p:txBody>
      </p:sp>
      <p:sp>
        <p:nvSpPr>
          <p:cNvPr id="50" name="Rounded Rectangle 49"/>
          <p:cNvSpPr/>
          <p:nvPr/>
        </p:nvSpPr>
        <p:spPr>
          <a:xfrm>
            <a:off x="7863840" y="1691640"/>
            <a:ext cx="3749039" cy="97840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8028431" y="1783080"/>
            <a:ext cx="2514600" cy="274320"/>
          </a:xfrm>
          <a:prstGeom prst="rect">
            <a:avLst/>
          </a:prstGeom>
          <a:noFill/>
        </p:spPr>
        <p:txBody>
          <a:bodyPr wrap="square" lIns="0" tIns="0" rIns="0" bIns="0" anchor="t">
            <a:spAutoFit/>
          </a:bodyPr>
          <a:lstStyle/>
          <a:p>
            <a:pPr algn="l">
              <a:spcAft>
                <a:spcPts val="0"/>
              </a:spcAft>
            </a:pPr>
            <a:r>
              <a:rPr sz="1100" b="1" i="0">
                <a:solidFill>
                  <a:srgbClr val="14213D"/>
                </a:solidFill>
                <a:latin typeface="Calibri"/>
              </a:rPr>
              <a:t>policies_free_insurance.csv</a:t>
            </a:r>
          </a:p>
        </p:txBody>
      </p:sp>
      <p:sp>
        <p:nvSpPr>
          <p:cNvPr id="52" name="TextBox 51"/>
          <p:cNvSpPr txBox="1"/>
          <p:nvPr/>
        </p:nvSpPr>
        <p:spPr>
          <a:xfrm>
            <a:off x="10378440" y="1783080"/>
            <a:ext cx="1097280" cy="274320"/>
          </a:xfrm>
          <a:prstGeom prst="rect">
            <a:avLst/>
          </a:prstGeom>
          <a:noFill/>
        </p:spPr>
        <p:txBody>
          <a:bodyPr wrap="square" lIns="0" tIns="0" rIns="0" bIns="0" anchor="t">
            <a:spAutoFit/>
          </a:bodyPr>
          <a:lstStyle/>
          <a:p>
            <a:pPr algn="r">
              <a:spcAft>
                <a:spcPts val="0"/>
              </a:spcAft>
            </a:pPr>
            <a:r>
              <a:rPr sz="1100" b="1" i="0">
                <a:solidFill>
                  <a:srgbClr val="B03A2E"/>
                </a:solidFill>
                <a:latin typeface="Calibri"/>
              </a:rPr>
              <a:t>15.5% fraud</a:t>
            </a:r>
          </a:p>
        </p:txBody>
      </p:sp>
      <p:sp>
        <p:nvSpPr>
          <p:cNvPr id="53" name="TextBox 52"/>
          <p:cNvSpPr txBox="1"/>
          <p:nvPr/>
        </p:nvSpPr>
        <p:spPr>
          <a:xfrm>
            <a:off x="8028431" y="2075688"/>
            <a:ext cx="3474720" cy="566928"/>
          </a:xfrm>
          <a:prstGeom prst="rect">
            <a:avLst/>
          </a:prstGeom>
          <a:noFill/>
        </p:spPr>
        <p:txBody>
          <a:bodyPr wrap="square" lIns="0" tIns="0" rIns="0" bIns="0" anchor="t">
            <a:spAutoFit/>
          </a:bodyPr>
          <a:lstStyle/>
          <a:p>
            <a:pPr algn="l">
              <a:spcAft>
                <a:spcPts val="0"/>
              </a:spcAft>
            </a:pPr>
            <a:r>
              <a:rPr sz="1000" b="0" i="0">
                <a:solidFill>
                  <a:srgbClr val="1B2430"/>
                </a:solidFill>
                <a:latin typeface="Calibri"/>
              </a:rPr>
              <a:t>Policies: cover obtained without really paying: fake policies, backdating, fronting, free-look abuse.</a:t>
            </a:r>
          </a:p>
        </p:txBody>
      </p:sp>
      <p:sp>
        <p:nvSpPr>
          <p:cNvPr id="54" name="Rounded Rectangle 53"/>
          <p:cNvSpPr/>
          <p:nvPr/>
        </p:nvSpPr>
        <p:spPr>
          <a:xfrm>
            <a:off x="7863840" y="2807208"/>
            <a:ext cx="3749039" cy="97840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8028431" y="2898648"/>
            <a:ext cx="2514600" cy="274320"/>
          </a:xfrm>
          <a:prstGeom prst="rect">
            <a:avLst/>
          </a:prstGeom>
          <a:noFill/>
        </p:spPr>
        <p:txBody>
          <a:bodyPr wrap="square" lIns="0" tIns="0" rIns="0" bIns="0" anchor="t">
            <a:spAutoFit/>
          </a:bodyPr>
          <a:lstStyle/>
          <a:p>
            <a:pPr algn="l">
              <a:spcAft>
                <a:spcPts val="0"/>
              </a:spcAft>
            </a:pPr>
            <a:r>
              <a:rPr sz="1100" b="1" i="0">
                <a:solidFill>
                  <a:srgbClr val="14213D"/>
                </a:solidFill>
                <a:latin typeface="Calibri"/>
              </a:rPr>
              <a:t>claims.csv</a:t>
            </a:r>
          </a:p>
        </p:txBody>
      </p:sp>
      <p:sp>
        <p:nvSpPr>
          <p:cNvPr id="56" name="TextBox 55"/>
          <p:cNvSpPr txBox="1"/>
          <p:nvPr/>
        </p:nvSpPr>
        <p:spPr>
          <a:xfrm>
            <a:off x="10378440" y="2898648"/>
            <a:ext cx="1097280" cy="274320"/>
          </a:xfrm>
          <a:prstGeom prst="rect">
            <a:avLst/>
          </a:prstGeom>
          <a:noFill/>
        </p:spPr>
        <p:txBody>
          <a:bodyPr wrap="square" lIns="0" tIns="0" rIns="0" bIns="0" anchor="t">
            <a:spAutoFit/>
          </a:bodyPr>
          <a:lstStyle/>
          <a:p>
            <a:pPr algn="r">
              <a:spcAft>
                <a:spcPts val="0"/>
              </a:spcAft>
            </a:pPr>
            <a:r>
              <a:rPr sz="1100" b="1" i="0">
                <a:solidFill>
                  <a:srgbClr val="B03A2E"/>
                </a:solidFill>
                <a:latin typeface="Calibri"/>
              </a:rPr>
              <a:t>18.4% fraud</a:t>
            </a:r>
          </a:p>
        </p:txBody>
      </p:sp>
      <p:sp>
        <p:nvSpPr>
          <p:cNvPr id="57" name="TextBox 56"/>
          <p:cNvSpPr txBox="1"/>
          <p:nvPr/>
        </p:nvSpPr>
        <p:spPr>
          <a:xfrm>
            <a:off x="8028431" y="3191256"/>
            <a:ext cx="3474720" cy="566928"/>
          </a:xfrm>
          <a:prstGeom prst="rect">
            <a:avLst/>
          </a:prstGeom>
          <a:noFill/>
        </p:spPr>
        <p:txBody>
          <a:bodyPr wrap="square" lIns="0" tIns="0" rIns="0" bIns="0" anchor="t">
            <a:spAutoFit/>
          </a:bodyPr>
          <a:lstStyle/>
          <a:p>
            <a:pPr algn="l">
              <a:spcAft>
                <a:spcPts val="0"/>
              </a:spcAft>
            </a:pPr>
            <a:r>
              <a:rPr sz="1000" b="0" i="0">
                <a:solidFill>
                  <a:srgbClr val="1B2430"/>
                </a:solidFill>
                <a:latin typeface="Calibri"/>
              </a:rPr>
              <a:t>Claims: duplicate, staged, faked-document, inflated or suspiciously early claims.</a:t>
            </a:r>
          </a:p>
        </p:txBody>
      </p:sp>
      <p:sp>
        <p:nvSpPr>
          <p:cNvPr id="58" name="Rounded Rectangle 57"/>
          <p:cNvSpPr/>
          <p:nvPr/>
        </p:nvSpPr>
        <p:spPr>
          <a:xfrm>
            <a:off x="7863840" y="3922776"/>
            <a:ext cx="3749039" cy="97840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8028431" y="4014215"/>
            <a:ext cx="2514600" cy="274320"/>
          </a:xfrm>
          <a:prstGeom prst="rect">
            <a:avLst/>
          </a:prstGeom>
          <a:noFill/>
        </p:spPr>
        <p:txBody>
          <a:bodyPr wrap="square" lIns="0" tIns="0" rIns="0" bIns="0" anchor="t">
            <a:spAutoFit/>
          </a:bodyPr>
          <a:lstStyle/>
          <a:p>
            <a:pPr algn="l">
              <a:spcAft>
                <a:spcPts val="0"/>
              </a:spcAft>
            </a:pPr>
            <a:r>
              <a:rPr sz="1100" b="1" i="0">
                <a:solidFill>
                  <a:srgbClr val="14213D"/>
                </a:solidFill>
                <a:latin typeface="Calibri"/>
              </a:rPr>
              <a:t>payments_bad_payments.csv</a:t>
            </a:r>
          </a:p>
        </p:txBody>
      </p:sp>
      <p:sp>
        <p:nvSpPr>
          <p:cNvPr id="60" name="TextBox 59"/>
          <p:cNvSpPr txBox="1"/>
          <p:nvPr/>
        </p:nvSpPr>
        <p:spPr>
          <a:xfrm>
            <a:off x="10378440" y="4014215"/>
            <a:ext cx="1097280" cy="274320"/>
          </a:xfrm>
          <a:prstGeom prst="rect">
            <a:avLst/>
          </a:prstGeom>
          <a:noFill/>
        </p:spPr>
        <p:txBody>
          <a:bodyPr wrap="square" lIns="0" tIns="0" rIns="0" bIns="0" anchor="t">
            <a:spAutoFit/>
          </a:bodyPr>
          <a:lstStyle/>
          <a:p>
            <a:pPr algn="r">
              <a:spcAft>
                <a:spcPts val="0"/>
              </a:spcAft>
            </a:pPr>
            <a:r>
              <a:rPr sz="1100" b="1" i="0">
                <a:solidFill>
                  <a:srgbClr val="B03A2E"/>
                </a:solidFill>
                <a:latin typeface="Calibri"/>
              </a:rPr>
              <a:t>14.4% fraud</a:t>
            </a:r>
          </a:p>
        </p:txBody>
      </p:sp>
      <p:sp>
        <p:nvSpPr>
          <p:cNvPr id="61" name="TextBox 60"/>
          <p:cNvSpPr txBox="1"/>
          <p:nvPr/>
        </p:nvSpPr>
        <p:spPr>
          <a:xfrm>
            <a:off x="8028431" y="4306824"/>
            <a:ext cx="3474720" cy="566928"/>
          </a:xfrm>
          <a:prstGeom prst="rect">
            <a:avLst/>
          </a:prstGeom>
          <a:noFill/>
        </p:spPr>
        <p:txBody>
          <a:bodyPr wrap="square" lIns="0" tIns="0" rIns="0" bIns="0" anchor="t">
            <a:spAutoFit/>
          </a:bodyPr>
          <a:lstStyle/>
          <a:p>
            <a:pPr algn="l">
              <a:spcAft>
                <a:spcPts val="0"/>
              </a:spcAft>
            </a:pPr>
            <a:r>
              <a:rPr sz="1000" b="0" i="0">
                <a:solidFill>
                  <a:srgbClr val="1B2430"/>
                </a:solidFill>
                <a:latin typeface="Calibri"/>
              </a:rPr>
              <a:t>Premium payments that never reached the insurer: refunds, fake receipts, bounced cheques, agent diversion.</a:t>
            </a:r>
          </a:p>
        </p:txBody>
      </p:sp>
      <p:sp>
        <p:nvSpPr>
          <p:cNvPr id="62" name="Rounded Rectangle 61"/>
          <p:cNvSpPr/>
          <p:nvPr/>
        </p:nvSpPr>
        <p:spPr>
          <a:xfrm>
            <a:off x="7863840" y="5038344"/>
            <a:ext cx="3749039" cy="978408"/>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p:cNvSpPr txBox="1"/>
          <p:nvPr/>
        </p:nvSpPr>
        <p:spPr>
          <a:xfrm>
            <a:off x="8028431" y="5129783"/>
            <a:ext cx="2514600" cy="274320"/>
          </a:xfrm>
          <a:prstGeom prst="rect">
            <a:avLst/>
          </a:prstGeom>
          <a:noFill/>
        </p:spPr>
        <p:txBody>
          <a:bodyPr wrap="square" lIns="0" tIns="0" rIns="0" bIns="0" anchor="t">
            <a:spAutoFit/>
          </a:bodyPr>
          <a:lstStyle/>
          <a:p>
            <a:pPr algn="l">
              <a:spcAft>
                <a:spcPts val="0"/>
              </a:spcAft>
            </a:pPr>
            <a:r>
              <a:rPr sz="1100" b="1" i="0">
                <a:solidFill>
                  <a:srgbClr val="14213D"/>
                </a:solidFill>
                <a:latin typeface="Calibri"/>
              </a:rPr>
              <a:t>ghost_broking.csv</a:t>
            </a:r>
          </a:p>
        </p:txBody>
      </p:sp>
      <p:sp>
        <p:nvSpPr>
          <p:cNvPr id="64" name="TextBox 63"/>
          <p:cNvSpPr txBox="1"/>
          <p:nvPr/>
        </p:nvSpPr>
        <p:spPr>
          <a:xfrm>
            <a:off x="10378440" y="5129783"/>
            <a:ext cx="1097280" cy="274320"/>
          </a:xfrm>
          <a:prstGeom prst="rect">
            <a:avLst/>
          </a:prstGeom>
          <a:noFill/>
        </p:spPr>
        <p:txBody>
          <a:bodyPr wrap="square" lIns="0" tIns="0" rIns="0" bIns="0" anchor="t">
            <a:spAutoFit/>
          </a:bodyPr>
          <a:lstStyle/>
          <a:p>
            <a:pPr algn="r">
              <a:spcAft>
                <a:spcPts val="0"/>
              </a:spcAft>
            </a:pPr>
            <a:r>
              <a:rPr sz="1100" b="1" i="0">
                <a:solidFill>
                  <a:srgbClr val="B03A2E"/>
                </a:solidFill>
                <a:latin typeface="Calibri"/>
              </a:rPr>
              <a:t>28.5% fraud</a:t>
            </a:r>
          </a:p>
        </p:txBody>
      </p:sp>
      <p:sp>
        <p:nvSpPr>
          <p:cNvPr id="65" name="TextBox 64"/>
          <p:cNvSpPr txBox="1"/>
          <p:nvPr/>
        </p:nvSpPr>
        <p:spPr>
          <a:xfrm>
            <a:off x="8028431" y="5422392"/>
            <a:ext cx="3474720" cy="566928"/>
          </a:xfrm>
          <a:prstGeom prst="rect">
            <a:avLst/>
          </a:prstGeom>
          <a:noFill/>
        </p:spPr>
        <p:txBody>
          <a:bodyPr wrap="square" lIns="0" tIns="0" rIns="0" bIns="0" anchor="t">
            <a:spAutoFit/>
          </a:bodyPr>
          <a:lstStyle/>
          <a:p>
            <a:pPr algn="l">
              <a:spcAft>
                <a:spcPts val="0"/>
              </a:spcAft>
            </a:pPr>
            <a:r>
              <a:rPr sz="1000" b="0" i="0">
                <a:solidFill>
                  <a:srgbClr val="1B2430"/>
                </a:solidFill>
                <a:latin typeface="Calibri"/>
              </a:rPr>
              <a:t>Agent sales: fake or cloned agents, expired or no license, agents pocketing premiums.</a:t>
            </a:r>
          </a:p>
        </p:txBody>
      </p:sp>
      <p:sp>
        <p:nvSpPr>
          <p:cNvPr id="66" name="TextBox 65"/>
          <p:cNvSpPr txBox="1"/>
          <p:nvPr/>
        </p:nvSpPr>
        <p:spPr>
          <a:xfrm>
            <a:off x="7863840" y="6199632"/>
            <a:ext cx="3749039" cy="228600"/>
          </a:xfrm>
          <a:prstGeom prst="rect">
            <a:avLst/>
          </a:prstGeom>
          <a:noFill/>
        </p:spPr>
        <p:txBody>
          <a:bodyPr wrap="square" lIns="0" tIns="0" rIns="0" bIns="0" anchor="t">
            <a:spAutoFit/>
          </a:bodyPr>
          <a:lstStyle/>
          <a:p>
            <a:pPr algn="l">
              <a:spcAft>
                <a:spcPts val="0"/>
              </a:spcAft>
            </a:pPr>
            <a:r>
              <a:rPr sz="1000" b="0" i="1">
                <a:solidFill>
                  <a:srgbClr val="5E6973"/>
                </a:solidFill>
                <a:latin typeface="Calibri"/>
              </a:rPr>
              <a:t>1,000 labelled records each; linked by policy, customer and agent IDs.</a:t>
            </a:r>
          </a:p>
        </p:txBody>
      </p:sp>
      <p:sp>
        <p:nvSpPr>
          <p:cNvPr id="67" name="TextBox 66"/>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68" name="TextBox 67"/>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1700784"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WHAT COUNTS AS FRAUD</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17 fraud types across the four files</a:t>
            </a:r>
          </a:p>
        </p:txBody>
      </p:sp>
      <p:sp>
        <p:nvSpPr>
          <p:cNvPr id="4" name="Rounded Rectangle 3"/>
          <p:cNvSpPr/>
          <p:nvPr/>
        </p:nvSpPr>
        <p:spPr>
          <a:xfrm>
            <a:off x="548640" y="1783080"/>
            <a:ext cx="2651760" cy="27432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POLICIES</a:t>
            </a:r>
          </a:p>
        </p:txBody>
      </p:sp>
      <p:sp>
        <p:nvSpPr>
          <p:cNvPr id="5" name="Rounded Rectangle 4"/>
          <p:cNvSpPr/>
          <p:nvPr/>
        </p:nvSpPr>
        <p:spPr>
          <a:xfrm>
            <a:off x="548640" y="2240280"/>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85800" y="2240280"/>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Fake Policy - No Premium Collected</a:t>
            </a:r>
          </a:p>
        </p:txBody>
      </p:sp>
      <p:sp>
        <p:nvSpPr>
          <p:cNvPr id="7" name="TextBox 6"/>
          <p:cNvSpPr txBox="1"/>
          <p:nvPr/>
        </p:nvSpPr>
        <p:spPr>
          <a:xfrm>
            <a:off x="2514600" y="2240280"/>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45</a:t>
            </a:r>
          </a:p>
        </p:txBody>
      </p:sp>
      <p:sp>
        <p:nvSpPr>
          <p:cNvPr id="8" name="Rounded Rectangle 7"/>
          <p:cNvSpPr/>
          <p:nvPr/>
        </p:nvSpPr>
        <p:spPr>
          <a:xfrm>
            <a:off x="548640" y="2953512"/>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85800" y="2953512"/>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Backdated Policy Issuance</a:t>
            </a:r>
          </a:p>
        </p:txBody>
      </p:sp>
      <p:sp>
        <p:nvSpPr>
          <p:cNvPr id="10" name="TextBox 9"/>
          <p:cNvSpPr txBox="1"/>
          <p:nvPr/>
        </p:nvSpPr>
        <p:spPr>
          <a:xfrm>
            <a:off x="2514600" y="2953512"/>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41</a:t>
            </a:r>
          </a:p>
        </p:txBody>
      </p:sp>
      <p:sp>
        <p:nvSpPr>
          <p:cNvPr id="11" name="Rounded Rectangle 10"/>
          <p:cNvSpPr/>
          <p:nvPr/>
        </p:nvSpPr>
        <p:spPr>
          <a:xfrm>
            <a:off x="548640" y="3666744"/>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85800" y="3666744"/>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Fronting / Straw Policyholder</a:t>
            </a:r>
          </a:p>
        </p:txBody>
      </p:sp>
      <p:sp>
        <p:nvSpPr>
          <p:cNvPr id="13" name="TextBox 12"/>
          <p:cNvSpPr txBox="1"/>
          <p:nvPr/>
        </p:nvSpPr>
        <p:spPr>
          <a:xfrm>
            <a:off x="2514600" y="3666744"/>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39</a:t>
            </a:r>
          </a:p>
        </p:txBody>
      </p:sp>
      <p:sp>
        <p:nvSpPr>
          <p:cNvPr id="14" name="Rounded Rectangle 13"/>
          <p:cNvSpPr/>
          <p:nvPr/>
        </p:nvSpPr>
        <p:spPr>
          <a:xfrm>
            <a:off x="548640" y="4379976"/>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85800" y="4379976"/>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Free-Look Period Abuse</a:t>
            </a:r>
          </a:p>
        </p:txBody>
      </p:sp>
      <p:sp>
        <p:nvSpPr>
          <p:cNvPr id="16" name="TextBox 15"/>
          <p:cNvSpPr txBox="1"/>
          <p:nvPr/>
        </p:nvSpPr>
        <p:spPr>
          <a:xfrm>
            <a:off x="2514600" y="4379976"/>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30</a:t>
            </a:r>
          </a:p>
        </p:txBody>
      </p:sp>
      <p:sp>
        <p:nvSpPr>
          <p:cNvPr id="17" name="Rounded Rectangle 16"/>
          <p:cNvSpPr/>
          <p:nvPr/>
        </p:nvSpPr>
        <p:spPr>
          <a:xfrm>
            <a:off x="3355848" y="1783080"/>
            <a:ext cx="2651760" cy="27432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CLAIMS</a:t>
            </a:r>
          </a:p>
        </p:txBody>
      </p:sp>
      <p:sp>
        <p:nvSpPr>
          <p:cNvPr id="18" name="Rounded Rectangle 17"/>
          <p:cNvSpPr/>
          <p:nvPr/>
        </p:nvSpPr>
        <p:spPr>
          <a:xfrm>
            <a:off x="3355848" y="2240280"/>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493008" y="2240280"/>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Multiple/Duplicate Claims</a:t>
            </a:r>
          </a:p>
        </p:txBody>
      </p:sp>
      <p:sp>
        <p:nvSpPr>
          <p:cNvPr id="20" name="TextBox 19"/>
          <p:cNvSpPr txBox="1"/>
          <p:nvPr/>
        </p:nvSpPr>
        <p:spPr>
          <a:xfrm>
            <a:off x="5321808" y="2240280"/>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52</a:t>
            </a:r>
          </a:p>
        </p:txBody>
      </p:sp>
      <p:sp>
        <p:nvSpPr>
          <p:cNvPr id="21" name="Rounded Rectangle 20"/>
          <p:cNvSpPr/>
          <p:nvPr/>
        </p:nvSpPr>
        <p:spPr>
          <a:xfrm>
            <a:off x="3355848" y="2953512"/>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3493008" y="2953512"/>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Staged Accident</a:t>
            </a:r>
          </a:p>
        </p:txBody>
      </p:sp>
      <p:sp>
        <p:nvSpPr>
          <p:cNvPr id="23" name="TextBox 22"/>
          <p:cNvSpPr txBox="1"/>
          <p:nvPr/>
        </p:nvSpPr>
        <p:spPr>
          <a:xfrm>
            <a:off x="5321808" y="2953512"/>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39</a:t>
            </a:r>
          </a:p>
        </p:txBody>
      </p:sp>
      <p:sp>
        <p:nvSpPr>
          <p:cNvPr id="24" name="Rounded Rectangle 23"/>
          <p:cNvSpPr/>
          <p:nvPr/>
        </p:nvSpPr>
        <p:spPr>
          <a:xfrm>
            <a:off x="3355848" y="3666744"/>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493008" y="3666744"/>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Fake Supporting Documents</a:t>
            </a:r>
          </a:p>
        </p:txBody>
      </p:sp>
      <p:sp>
        <p:nvSpPr>
          <p:cNvPr id="26" name="TextBox 25"/>
          <p:cNvSpPr txBox="1"/>
          <p:nvPr/>
        </p:nvSpPr>
        <p:spPr>
          <a:xfrm>
            <a:off x="5321808" y="3666744"/>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34</a:t>
            </a:r>
          </a:p>
        </p:txBody>
      </p:sp>
      <p:sp>
        <p:nvSpPr>
          <p:cNvPr id="27" name="Rounded Rectangle 26"/>
          <p:cNvSpPr/>
          <p:nvPr/>
        </p:nvSpPr>
        <p:spPr>
          <a:xfrm>
            <a:off x="3355848" y="4379976"/>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3493008" y="4379976"/>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Exaggerated Claim Amount</a:t>
            </a:r>
          </a:p>
        </p:txBody>
      </p:sp>
      <p:sp>
        <p:nvSpPr>
          <p:cNvPr id="29" name="TextBox 28"/>
          <p:cNvSpPr txBox="1"/>
          <p:nvPr/>
        </p:nvSpPr>
        <p:spPr>
          <a:xfrm>
            <a:off x="5321808" y="4379976"/>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33</a:t>
            </a:r>
          </a:p>
        </p:txBody>
      </p:sp>
      <p:sp>
        <p:nvSpPr>
          <p:cNvPr id="30" name="Rounded Rectangle 29"/>
          <p:cNvSpPr/>
          <p:nvPr/>
        </p:nvSpPr>
        <p:spPr>
          <a:xfrm>
            <a:off x="3355848" y="5093208"/>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3493008" y="5093208"/>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Early Claim Fraud</a:t>
            </a:r>
          </a:p>
        </p:txBody>
      </p:sp>
      <p:sp>
        <p:nvSpPr>
          <p:cNvPr id="32" name="TextBox 31"/>
          <p:cNvSpPr txBox="1"/>
          <p:nvPr/>
        </p:nvSpPr>
        <p:spPr>
          <a:xfrm>
            <a:off x="5321808" y="5093208"/>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26</a:t>
            </a:r>
          </a:p>
        </p:txBody>
      </p:sp>
      <p:sp>
        <p:nvSpPr>
          <p:cNvPr id="33" name="Rounded Rectangle 32"/>
          <p:cNvSpPr/>
          <p:nvPr/>
        </p:nvSpPr>
        <p:spPr>
          <a:xfrm>
            <a:off x="6163055" y="1783080"/>
            <a:ext cx="2651760" cy="27432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PAYMENTS</a:t>
            </a:r>
          </a:p>
        </p:txBody>
      </p:sp>
      <p:sp>
        <p:nvSpPr>
          <p:cNvPr id="34" name="Rounded Rectangle 33"/>
          <p:cNvSpPr/>
          <p:nvPr/>
        </p:nvSpPr>
        <p:spPr>
          <a:xfrm>
            <a:off x="6163055" y="2240280"/>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6300216" y="2240280"/>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Duplicate/Unauthorized Refund</a:t>
            </a:r>
          </a:p>
        </p:txBody>
      </p:sp>
      <p:sp>
        <p:nvSpPr>
          <p:cNvPr id="36" name="TextBox 35"/>
          <p:cNvSpPr txBox="1"/>
          <p:nvPr/>
        </p:nvSpPr>
        <p:spPr>
          <a:xfrm>
            <a:off x="8129015" y="2240280"/>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44</a:t>
            </a:r>
          </a:p>
        </p:txBody>
      </p:sp>
      <p:sp>
        <p:nvSpPr>
          <p:cNvPr id="37" name="Rounded Rectangle 36"/>
          <p:cNvSpPr/>
          <p:nvPr/>
        </p:nvSpPr>
        <p:spPr>
          <a:xfrm>
            <a:off x="6163055" y="2953512"/>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6300216" y="2953512"/>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Fake Payment Receipt</a:t>
            </a:r>
          </a:p>
        </p:txBody>
      </p:sp>
      <p:sp>
        <p:nvSpPr>
          <p:cNvPr id="39" name="TextBox 38"/>
          <p:cNvSpPr txBox="1"/>
          <p:nvPr/>
        </p:nvSpPr>
        <p:spPr>
          <a:xfrm>
            <a:off x="8129015" y="2953512"/>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36</a:t>
            </a:r>
          </a:p>
        </p:txBody>
      </p:sp>
      <p:sp>
        <p:nvSpPr>
          <p:cNvPr id="40" name="Rounded Rectangle 39"/>
          <p:cNvSpPr/>
          <p:nvPr/>
        </p:nvSpPr>
        <p:spPr>
          <a:xfrm>
            <a:off x="6163055" y="3666744"/>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300216" y="3666744"/>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Bounced Cheque Used for Coverage</a:t>
            </a:r>
          </a:p>
        </p:txBody>
      </p:sp>
      <p:sp>
        <p:nvSpPr>
          <p:cNvPr id="42" name="TextBox 41"/>
          <p:cNvSpPr txBox="1"/>
          <p:nvPr/>
        </p:nvSpPr>
        <p:spPr>
          <a:xfrm>
            <a:off x="8129015" y="3666744"/>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35</a:t>
            </a:r>
          </a:p>
        </p:txBody>
      </p:sp>
      <p:sp>
        <p:nvSpPr>
          <p:cNvPr id="43" name="Rounded Rectangle 42"/>
          <p:cNvSpPr/>
          <p:nvPr/>
        </p:nvSpPr>
        <p:spPr>
          <a:xfrm>
            <a:off x="6163055" y="4379976"/>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300216" y="4379976"/>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Premium Diversion by Agent</a:t>
            </a:r>
          </a:p>
        </p:txBody>
      </p:sp>
      <p:sp>
        <p:nvSpPr>
          <p:cNvPr id="45" name="TextBox 44"/>
          <p:cNvSpPr txBox="1"/>
          <p:nvPr/>
        </p:nvSpPr>
        <p:spPr>
          <a:xfrm>
            <a:off x="8129015" y="4379976"/>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29</a:t>
            </a:r>
          </a:p>
        </p:txBody>
      </p:sp>
      <p:sp>
        <p:nvSpPr>
          <p:cNvPr id="46" name="Rounded Rectangle 45"/>
          <p:cNvSpPr/>
          <p:nvPr/>
        </p:nvSpPr>
        <p:spPr>
          <a:xfrm>
            <a:off x="8970263" y="1783080"/>
            <a:ext cx="2651760" cy="274320"/>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GHOST BROKING</a:t>
            </a:r>
          </a:p>
        </p:txBody>
      </p:sp>
      <p:sp>
        <p:nvSpPr>
          <p:cNvPr id="47" name="Rounded Rectangle 46"/>
          <p:cNvSpPr/>
          <p:nvPr/>
        </p:nvSpPr>
        <p:spPr>
          <a:xfrm>
            <a:off x="8970263" y="2240280"/>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107424" y="2240280"/>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Fake/Cloned Agent Identity</a:t>
            </a:r>
          </a:p>
        </p:txBody>
      </p:sp>
      <p:sp>
        <p:nvSpPr>
          <p:cNvPr id="49" name="TextBox 48"/>
          <p:cNvSpPr txBox="1"/>
          <p:nvPr/>
        </p:nvSpPr>
        <p:spPr>
          <a:xfrm>
            <a:off x="10936224" y="2240280"/>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81</a:t>
            </a:r>
          </a:p>
        </p:txBody>
      </p:sp>
      <p:sp>
        <p:nvSpPr>
          <p:cNvPr id="50" name="Rounded Rectangle 49"/>
          <p:cNvSpPr/>
          <p:nvPr/>
        </p:nvSpPr>
        <p:spPr>
          <a:xfrm>
            <a:off x="8970263" y="2953512"/>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9107424" y="2953512"/>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Premium Pocketing</a:t>
            </a:r>
          </a:p>
        </p:txBody>
      </p:sp>
      <p:sp>
        <p:nvSpPr>
          <p:cNvPr id="52" name="TextBox 51"/>
          <p:cNvSpPr txBox="1"/>
          <p:nvPr/>
        </p:nvSpPr>
        <p:spPr>
          <a:xfrm>
            <a:off x="10936224" y="2953512"/>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80</a:t>
            </a:r>
          </a:p>
        </p:txBody>
      </p:sp>
      <p:sp>
        <p:nvSpPr>
          <p:cNvPr id="53" name="Rounded Rectangle 52"/>
          <p:cNvSpPr/>
          <p:nvPr/>
        </p:nvSpPr>
        <p:spPr>
          <a:xfrm>
            <a:off x="8970263" y="3666744"/>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9107424" y="3666744"/>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Expired License Sales</a:t>
            </a:r>
          </a:p>
        </p:txBody>
      </p:sp>
      <p:sp>
        <p:nvSpPr>
          <p:cNvPr id="55" name="TextBox 54"/>
          <p:cNvSpPr txBox="1"/>
          <p:nvPr/>
        </p:nvSpPr>
        <p:spPr>
          <a:xfrm>
            <a:off x="10936224" y="3666744"/>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70</a:t>
            </a:r>
          </a:p>
        </p:txBody>
      </p:sp>
      <p:sp>
        <p:nvSpPr>
          <p:cNvPr id="56" name="Rounded Rectangle 55"/>
          <p:cNvSpPr/>
          <p:nvPr/>
        </p:nvSpPr>
        <p:spPr>
          <a:xfrm>
            <a:off x="8970263" y="4379976"/>
            <a:ext cx="2651760" cy="621792"/>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9107424" y="4379976"/>
            <a:ext cx="1874519" cy="621792"/>
          </a:xfrm>
          <a:prstGeom prst="rect">
            <a:avLst/>
          </a:prstGeom>
          <a:noFill/>
        </p:spPr>
        <p:txBody>
          <a:bodyPr wrap="square" lIns="0" tIns="0" rIns="0" bIns="0" anchor="ctr">
            <a:spAutoFit/>
          </a:bodyPr>
          <a:lstStyle/>
          <a:p>
            <a:pPr algn="l">
              <a:spcAft>
                <a:spcPts val="0"/>
              </a:spcAft>
            </a:pPr>
            <a:r>
              <a:rPr sz="1200" b="0" i="0">
                <a:solidFill>
                  <a:srgbClr val="1B2430"/>
                </a:solidFill>
                <a:latin typeface="Calibri"/>
              </a:rPr>
              <a:t>Unlicensed Selling</a:t>
            </a:r>
          </a:p>
        </p:txBody>
      </p:sp>
      <p:sp>
        <p:nvSpPr>
          <p:cNvPr id="58" name="TextBox 57"/>
          <p:cNvSpPr txBox="1"/>
          <p:nvPr/>
        </p:nvSpPr>
        <p:spPr>
          <a:xfrm>
            <a:off x="10936224" y="4379976"/>
            <a:ext cx="548640" cy="621792"/>
          </a:xfrm>
          <a:prstGeom prst="rect">
            <a:avLst/>
          </a:prstGeom>
          <a:noFill/>
        </p:spPr>
        <p:txBody>
          <a:bodyPr wrap="square" lIns="0" tIns="0" rIns="0" bIns="0" anchor="ctr">
            <a:spAutoFit/>
          </a:bodyPr>
          <a:lstStyle/>
          <a:p>
            <a:pPr algn="r">
              <a:spcAft>
                <a:spcPts val="0"/>
              </a:spcAft>
            </a:pPr>
            <a:r>
              <a:rPr sz="1800" b="1" i="0">
                <a:solidFill>
                  <a:srgbClr val="1F7A74"/>
                </a:solidFill>
                <a:latin typeface="Cambria"/>
              </a:rPr>
              <a:t>54</a:t>
            </a:r>
          </a:p>
        </p:txBody>
      </p:sp>
      <p:sp>
        <p:nvSpPr>
          <p:cNvPr id="59" name="TextBox 58"/>
          <p:cNvSpPr txBox="1"/>
          <p:nvPr/>
        </p:nvSpPr>
        <p:spPr>
          <a:xfrm>
            <a:off x="548640" y="5897880"/>
            <a:ext cx="11064240" cy="365760"/>
          </a:xfrm>
          <a:prstGeom prst="rect">
            <a:avLst/>
          </a:prstGeom>
          <a:noFill/>
        </p:spPr>
        <p:txBody>
          <a:bodyPr wrap="square" lIns="0" tIns="0" rIns="0" bIns="0" anchor="t">
            <a:spAutoFit/>
          </a:bodyPr>
          <a:lstStyle/>
          <a:p>
            <a:pPr algn="l">
              <a:spcAft>
                <a:spcPts val="0"/>
              </a:spcAft>
            </a:pPr>
            <a:r>
              <a:rPr sz="1100" b="0" i="0">
                <a:solidFill>
                  <a:srgbClr val="5E6973"/>
                </a:solidFill>
                <a:latin typeface="Calibri"/>
              </a:rPr>
              <a:t>Counts are the number of labelled fraud records of each type.</a:t>
            </a:r>
          </a:p>
        </p:txBody>
      </p:sp>
      <p:sp>
        <p:nvSpPr>
          <p:cNvPr id="60" name="TextBox 59"/>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61" name="TextBox 60"/>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768096"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ANALYSIS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What the data analysis found</a:t>
            </a:r>
          </a:p>
        </p:txBody>
      </p:sp>
      <p:sp>
        <p:nvSpPr>
          <p:cNvPr id="4" name="Rounded Rectangle 3"/>
          <p:cNvSpPr/>
          <p:nvPr/>
        </p:nvSpPr>
        <p:spPr>
          <a:xfrm>
            <a:off x="548640" y="1783080"/>
            <a:ext cx="5394960" cy="1874519"/>
          </a:xfrm>
          <a:prstGeom prst="roundRect">
            <a:avLst>
              <a:gd name="adj" fmla="val 8000"/>
            </a:avLst>
          </a:prstGeom>
          <a:solidFill>
            <a:srgbClr val="E2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822959" y="2011680"/>
            <a:ext cx="4846320" cy="457200"/>
          </a:xfrm>
          <a:prstGeom prst="rect">
            <a:avLst/>
          </a:prstGeom>
          <a:noFill/>
        </p:spPr>
        <p:txBody>
          <a:bodyPr wrap="square" lIns="0" tIns="0" rIns="0" bIns="0" anchor="t">
            <a:spAutoFit/>
          </a:bodyPr>
          <a:lstStyle/>
          <a:p>
            <a:pPr algn="l">
              <a:spcAft>
                <a:spcPts val="0"/>
              </a:spcAft>
            </a:pPr>
            <a:r>
              <a:rPr sz="1900" b="1" i="0">
                <a:solidFill>
                  <a:srgbClr val="1F7A74"/>
                </a:solidFill>
                <a:latin typeface="Cambria"/>
              </a:rPr>
              <a:t>One column gives it away</a:t>
            </a:r>
          </a:p>
        </p:txBody>
      </p:sp>
      <p:sp>
        <p:nvSpPr>
          <p:cNvPr id="6" name="TextBox 5"/>
          <p:cNvSpPr txBox="1"/>
          <p:nvPr/>
        </p:nvSpPr>
        <p:spPr>
          <a:xfrm>
            <a:off x="822959" y="2560320"/>
            <a:ext cx="4846320" cy="100584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Backdated flag, duplicate receipt, altered documents, bounced payment: each is 100% fraud. Easy for rules, but real data is never this clean.</a:t>
            </a:r>
          </a:p>
        </p:txBody>
      </p:sp>
      <p:sp>
        <p:nvSpPr>
          <p:cNvPr id="7" name="Rounded Rectangle 6"/>
          <p:cNvSpPr/>
          <p:nvPr/>
        </p:nvSpPr>
        <p:spPr>
          <a:xfrm>
            <a:off x="6172200" y="1783080"/>
            <a:ext cx="5394960" cy="1874519"/>
          </a:xfrm>
          <a:prstGeom prst="roundRect">
            <a:avLst>
              <a:gd name="adj" fmla="val 8000"/>
            </a:avLst>
          </a:prstGeom>
          <a:solidFill>
            <a:srgbClr val="F8E5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46520" y="2011680"/>
            <a:ext cx="4846320" cy="457200"/>
          </a:xfrm>
          <a:prstGeom prst="rect">
            <a:avLst/>
          </a:prstGeom>
          <a:noFill/>
        </p:spPr>
        <p:txBody>
          <a:bodyPr wrap="square" lIns="0" tIns="0" rIns="0" bIns="0" anchor="t">
            <a:spAutoFit/>
          </a:bodyPr>
          <a:lstStyle/>
          <a:p>
            <a:pPr algn="l">
              <a:spcAft>
                <a:spcPts val="0"/>
              </a:spcAft>
            </a:pPr>
            <a:r>
              <a:rPr sz="1900" b="1" i="0">
                <a:solidFill>
                  <a:srgbClr val="B03A2E"/>
                </a:solidFill>
                <a:latin typeface="Cambria"/>
              </a:rPr>
              <a:t>Some columns leak the answer</a:t>
            </a:r>
          </a:p>
        </p:txBody>
      </p:sp>
      <p:sp>
        <p:nvSpPr>
          <p:cNvPr id="9" name="TextBox 8"/>
          <p:cNvSpPr txBox="1"/>
          <p:nvPr/>
        </p:nvSpPr>
        <p:spPr>
          <a:xfrm>
            <a:off x="6446520" y="2560320"/>
            <a:ext cx="4846320" cy="100584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claim_status and approved_amount are outcomes of an investigation. Using them would be cheating, so every rule, model and tool excludes them.</a:t>
            </a:r>
          </a:p>
        </p:txBody>
      </p:sp>
      <p:sp>
        <p:nvSpPr>
          <p:cNvPr id="10" name="Rounded Rectangle 9"/>
          <p:cNvSpPr/>
          <p:nvPr/>
        </p:nvSpPr>
        <p:spPr>
          <a:xfrm>
            <a:off x="548640" y="3886200"/>
            <a:ext cx="5394960" cy="1874519"/>
          </a:xfrm>
          <a:prstGeom prst="roundRect">
            <a:avLst>
              <a:gd name="adj" fmla="val 8000"/>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2959" y="4114800"/>
            <a:ext cx="4846320" cy="457200"/>
          </a:xfrm>
          <a:prstGeom prst="rect">
            <a:avLst/>
          </a:prstGeom>
          <a:noFill/>
        </p:spPr>
        <p:txBody>
          <a:bodyPr wrap="square" lIns="0" tIns="0" rIns="0" bIns="0" anchor="t">
            <a:spAutoFit/>
          </a:bodyPr>
          <a:lstStyle/>
          <a:p>
            <a:pPr algn="l">
              <a:spcAft>
                <a:spcPts val="0"/>
              </a:spcAft>
            </a:pPr>
            <a:r>
              <a:rPr sz="1900" b="1" i="0">
                <a:solidFill>
                  <a:srgbClr val="E09A2B"/>
                </a:solidFill>
                <a:latin typeface="Cambria"/>
              </a:rPr>
              <a:t>Some fraud leaves no trace</a:t>
            </a:r>
          </a:p>
        </p:txBody>
      </p:sp>
      <p:sp>
        <p:nvSpPr>
          <p:cNvPr id="12" name="TextBox 11"/>
          <p:cNvSpPr txBox="1"/>
          <p:nvPr/>
        </p:nvSpPr>
        <p:spPr>
          <a:xfrm>
            <a:off x="822959" y="4663440"/>
            <a:ext cx="4846320" cy="100584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Staged accidents, duplicate claims and fronting look like honest records: 51% of honest claims also have a related claim within 180 days.</a:t>
            </a:r>
          </a:p>
        </p:txBody>
      </p:sp>
      <p:sp>
        <p:nvSpPr>
          <p:cNvPr id="13" name="Rounded Rectangle 12"/>
          <p:cNvSpPr/>
          <p:nvPr/>
        </p:nvSpPr>
        <p:spPr>
          <a:xfrm>
            <a:off x="6172200" y="3886200"/>
            <a:ext cx="5394960" cy="1874519"/>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446520" y="4114800"/>
            <a:ext cx="4846320" cy="457200"/>
          </a:xfrm>
          <a:prstGeom prst="rect">
            <a:avLst/>
          </a:prstGeom>
          <a:noFill/>
        </p:spPr>
        <p:txBody>
          <a:bodyPr wrap="square" lIns="0" tIns="0" rIns="0" bIns="0" anchor="t">
            <a:spAutoFit/>
          </a:bodyPr>
          <a:lstStyle/>
          <a:p>
            <a:pPr algn="l">
              <a:spcAft>
                <a:spcPts val="0"/>
              </a:spcAft>
            </a:pPr>
            <a:r>
              <a:rPr sz="1900" b="1" i="0">
                <a:solidFill>
                  <a:srgbClr val="14213D"/>
                </a:solidFill>
                <a:latin typeface="Cambria"/>
              </a:rPr>
              <a:t>Data-quality problems</a:t>
            </a:r>
          </a:p>
        </p:txBody>
      </p:sp>
      <p:sp>
        <p:nvSpPr>
          <p:cNvPr id="15" name="TextBox 14"/>
          <p:cNvSpPr txBox="1"/>
          <p:nvPr/>
        </p:nvSpPr>
        <p:spPr>
          <a:xfrm>
            <a:off x="6446520" y="4663440"/>
            <a:ext cx="4846320" cy="100584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92 claims dated in the future; 603 “Valid” licenses already expired; 50 agents with conflicting statuses. Flagged, never deleted.</a:t>
            </a:r>
          </a:p>
        </p:txBody>
      </p:sp>
      <p:sp>
        <p:nvSpPr>
          <p:cNvPr id="16" name="TextBox 15"/>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17" name="TextBox 16"/>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534924"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TOOLS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Technology stack</a:t>
            </a:r>
          </a:p>
        </p:txBody>
      </p:sp>
      <p:graphicFrame>
        <p:nvGraphicFramePr>
          <p:cNvPr id="4" name="Table 3"/>
          <p:cNvGraphicFramePr>
            <a:graphicFrameLocks noGrp="1"/>
          </p:cNvGraphicFramePr>
          <p:nvPr/>
        </p:nvGraphicFramePr>
        <p:xfrm>
          <a:off x="548640" y="1783080"/>
          <a:ext cx="11064240" cy="4114800"/>
        </p:xfrm>
        <a:graphic>
          <a:graphicData uri="http://schemas.openxmlformats.org/drawingml/2006/table">
            <a:tbl>
              <a:tblPr firstRow="1" bandRow="1">
                <a:tableStyleId>{5940675A-B579-460E-94D1-54222C63F5DA}</a:tableStyleId>
              </a:tblPr>
              <a:tblGrid>
                <a:gridCol w="15544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57200">
                <a:tc>
                  <a:txBody>
                    <a:bodyPr/>
                    <a:lstStyle/>
                    <a:p>
                      <a:r>
                        <a:rPr sz="1300" b="1">
                          <a:solidFill>
                            <a:srgbClr val="FFFFFF"/>
                          </a:solidFill>
                          <a:latin typeface="Calibri"/>
                        </a:rPr>
                        <a:t>Layer</a:t>
                      </a:r>
                    </a:p>
                  </a:txBody>
                  <a:tcPr marL="73152" marR="73152" marT="36576" marB="36576" anchor="ctr">
                    <a:solidFill>
                      <a:srgbClr val="14213D"/>
                    </a:solidFill>
                  </a:tcPr>
                </a:tc>
                <a:tc>
                  <a:txBody>
                    <a:bodyPr/>
                    <a:lstStyle/>
                    <a:p>
                      <a:r>
                        <a:rPr sz="1300" b="1">
                          <a:solidFill>
                            <a:srgbClr val="FFFFFF"/>
                          </a:solidFill>
                          <a:latin typeface="Calibri"/>
                        </a:rPr>
                        <a:t>Choice</a:t>
                      </a:r>
                    </a:p>
                  </a:txBody>
                  <a:tcPr marL="73152" marR="73152" marT="36576" marB="36576" anchor="ctr">
                    <a:solidFill>
                      <a:srgbClr val="14213D"/>
                    </a:solidFill>
                  </a:tcPr>
                </a:tc>
                <a:tc>
                  <a:txBody>
                    <a:bodyPr/>
                    <a:lstStyle/>
                    <a:p>
                      <a:r>
                        <a:rPr sz="1300" b="1">
                          <a:solidFill>
                            <a:srgbClr val="FFFFFF"/>
                          </a:solidFill>
                          <a:latin typeface="Calibri"/>
                        </a:rPr>
                        <a:t>Why</a:t>
                      </a:r>
                    </a:p>
                  </a:txBody>
                  <a:tcPr marL="73152" marR="73152" marT="36576" marB="36576" anchor="ctr">
                    <a:solidFill>
                      <a:srgbClr val="14213D"/>
                    </a:solidFill>
                  </a:tcPr>
                </a:tc>
                <a:extLst>
                  <a:ext uri="{0D108BD9-81ED-4DB2-BD59-A6C34878D82A}">
                    <a16:rowId xmlns:a16="http://schemas.microsoft.com/office/drawing/2014/main" val="10000"/>
                  </a:ext>
                </a:extLst>
              </a:tr>
              <a:tr h="457200">
                <a:tc>
                  <a:txBody>
                    <a:bodyPr/>
                    <a:lstStyle/>
                    <a:p>
                      <a:r>
                        <a:rPr sz="1300" b="1">
                          <a:solidFill>
                            <a:srgbClr val="1B2430"/>
                          </a:solidFill>
                          <a:latin typeface="Calibri"/>
                        </a:rPr>
                        <a:t>Language</a:t>
                      </a:r>
                    </a:p>
                  </a:txBody>
                  <a:tcPr marL="73152" marR="73152" marT="36576" marB="36576" anchor="ctr">
                    <a:solidFill>
                      <a:srgbClr val="FFFFFF"/>
                    </a:solidFill>
                  </a:tcPr>
                </a:tc>
                <a:tc>
                  <a:txBody>
                    <a:bodyPr/>
                    <a:lstStyle/>
                    <a:p>
                      <a:r>
                        <a:rPr sz="1300" b="0">
                          <a:solidFill>
                            <a:srgbClr val="1B2430"/>
                          </a:solidFill>
                          <a:latin typeface="Calibri"/>
                        </a:rPr>
                        <a:t>Python 3.12 with uv</a:t>
                      </a:r>
                    </a:p>
                  </a:txBody>
                  <a:tcPr marL="73152" marR="73152" marT="36576" marB="36576" anchor="ctr">
                    <a:solidFill>
                      <a:srgbClr val="FFFFFF"/>
                    </a:solidFill>
                  </a:tcPr>
                </a:tc>
                <a:tc>
                  <a:txBody>
                    <a:bodyPr/>
                    <a:lstStyle/>
                    <a:p>
                      <a:r>
                        <a:rPr sz="1300" b="0">
                          <a:solidFill>
                            <a:srgbClr val="1B2430"/>
                          </a:solidFill>
                          <a:latin typeface="Calibri"/>
                        </a:rPr>
                        <a:t>Standard for data and ML; Google Cloud libraries support it</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300" b="1">
                          <a:solidFill>
                            <a:srgbClr val="1B2430"/>
                          </a:solidFill>
                          <a:latin typeface="Calibri"/>
                        </a:rPr>
                        <a:t>Data</a:t>
                      </a:r>
                    </a:p>
                  </a:txBody>
                  <a:tcPr marL="73152" marR="73152" marT="36576" marB="36576" anchor="ctr">
                    <a:solidFill>
                      <a:srgbClr val="F1F3F5"/>
                    </a:solidFill>
                  </a:tcPr>
                </a:tc>
                <a:tc>
                  <a:txBody>
                    <a:bodyPr/>
                    <a:lstStyle/>
                    <a:p>
                      <a:r>
                        <a:rPr sz="1300" b="0">
                          <a:solidFill>
                            <a:srgbClr val="1B2430"/>
                          </a:solidFill>
                          <a:latin typeface="Calibri"/>
                        </a:rPr>
                        <a:t>Google BigQuery (Mumbai)</a:t>
                      </a:r>
                    </a:p>
                  </a:txBody>
                  <a:tcPr marL="73152" marR="73152" marT="36576" marB="36576" anchor="ctr">
                    <a:solidFill>
                      <a:srgbClr val="F1F3F5"/>
                    </a:solidFill>
                  </a:tcPr>
                </a:tc>
                <a:tc>
                  <a:txBody>
                    <a:bodyPr/>
                    <a:lstStyle/>
                    <a:p>
                      <a:r>
                        <a:rPr sz="1300" b="0">
                          <a:solidFill>
                            <a:srgbClr val="1B2430"/>
                          </a:solidFill>
                          <a:latin typeface="Calibri"/>
                        </a:rPr>
                        <a:t>Managed and shared by every service; access control; data stays in India</a:t>
                      </a:r>
                    </a:p>
                  </a:txBody>
                  <a:tcPr marL="73152" marR="73152" marT="36576" marB="36576" anchor="ctr">
                    <a:solidFill>
                      <a:srgbClr val="F1F3F5"/>
                    </a:solidFill>
                  </a:tcPr>
                </a:tc>
                <a:extLst>
                  <a:ext uri="{0D108BD9-81ED-4DB2-BD59-A6C34878D82A}">
                    <a16:rowId xmlns:a16="http://schemas.microsoft.com/office/drawing/2014/main" val="10002"/>
                  </a:ext>
                </a:extLst>
              </a:tr>
              <a:tr h="457200">
                <a:tc>
                  <a:txBody>
                    <a:bodyPr/>
                    <a:lstStyle/>
                    <a:p>
                      <a:r>
                        <a:rPr sz="1300" b="1">
                          <a:solidFill>
                            <a:srgbClr val="1B2430"/>
                          </a:solidFill>
                          <a:latin typeface="Calibri"/>
                        </a:rPr>
                        <a:t>Rules</a:t>
                      </a:r>
                    </a:p>
                  </a:txBody>
                  <a:tcPr marL="73152" marR="73152" marT="36576" marB="36576" anchor="ctr">
                    <a:solidFill>
                      <a:srgbClr val="FFFFFF"/>
                    </a:solidFill>
                  </a:tcPr>
                </a:tc>
                <a:tc>
                  <a:txBody>
                    <a:bodyPr/>
                    <a:lstStyle/>
                    <a:p>
                      <a:r>
                        <a:rPr sz="1300" b="0">
                          <a:solidFill>
                            <a:srgbClr val="1B2430"/>
                          </a:solidFill>
                          <a:latin typeface="Calibri"/>
                        </a:rPr>
                        <a:t>YAML file + generated SQL</a:t>
                      </a:r>
                    </a:p>
                  </a:txBody>
                  <a:tcPr marL="73152" marR="73152" marT="36576" marB="36576" anchor="ctr">
                    <a:solidFill>
                      <a:srgbClr val="FFFFFF"/>
                    </a:solidFill>
                  </a:tcPr>
                </a:tc>
                <a:tc>
                  <a:txBody>
                    <a:bodyPr/>
                    <a:lstStyle/>
                    <a:p>
                      <a:r>
                        <a:rPr sz="1300" b="0">
                          <a:solidFill>
                            <a:srgbClr val="1B2430"/>
                          </a:solidFill>
                          <a:latin typeface="Calibri"/>
                        </a:rPr>
                        <a:t>Rules change without code changes and run inside BigQuery</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300" b="1">
                          <a:solidFill>
                            <a:srgbClr val="1B2430"/>
                          </a:solidFill>
                          <a:latin typeface="Calibri"/>
                        </a:rPr>
                        <a:t>ML</a:t>
                      </a:r>
                    </a:p>
                  </a:txBody>
                  <a:tcPr marL="73152" marR="73152" marT="36576" marB="36576" anchor="ctr">
                    <a:solidFill>
                      <a:srgbClr val="F1F3F5"/>
                    </a:solidFill>
                  </a:tcPr>
                </a:tc>
                <a:tc>
                  <a:txBody>
                    <a:bodyPr/>
                    <a:lstStyle/>
                    <a:p>
                      <a:r>
                        <a:rPr sz="1300" b="0">
                          <a:solidFill>
                            <a:srgbClr val="1B2430"/>
                          </a:solidFill>
                          <a:latin typeface="Calibri"/>
                        </a:rPr>
                        <a:t>scikit-learn gradient boosting</a:t>
                      </a:r>
                    </a:p>
                  </a:txBody>
                  <a:tcPr marL="73152" marR="73152" marT="36576" marB="36576" anchor="ctr">
                    <a:solidFill>
                      <a:srgbClr val="F1F3F5"/>
                    </a:solidFill>
                  </a:tcPr>
                </a:tc>
                <a:tc>
                  <a:txBody>
                    <a:bodyPr/>
                    <a:lstStyle/>
                    <a:p>
                      <a:r>
                        <a:rPr sz="1300" b="0">
                          <a:solidFill>
                            <a:srgbClr val="1B2430"/>
                          </a:solidFill>
                          <a:latin typeface="Calibri"/>
                        </a:rPr>
                        <a:t>Strong on tabular data</a:t>
                      </a:r>
                    </a:p>
                  </a:txBody>
                  <a:tcPr marL="73152" marR="73152" marT="36576" marB="36576" anchor="ctr">
                    <a:solidFill>
                      <a:srgbClr val="F1F3F5"/>
                    </a:solidFill>
                  </a:tcPr>
                </a:tc>
                <a:extLst>
                  <a:ext uri="{0D108BD9-81ED-4DB2-BD59-A6C34878D82A}">
                    <a16:rowId xmlns:a16="http://schemas.microsoft.com/office/drawing/2014/main" val="10004"/>
                  </a:ext>
                </a:extLst>
              </a:tr>
              <a:tr h="457200">
                <a:tc>
                  <a:txBody>
                    <a:bodyPr/>
                    <a:lstStyle/>
                    <a:p>
                      <a:r>
                        <a:rPr sz="1300" b="1">
                          <a:solidFill>
                            <a:srgbClr val="1B2430"/>
                          </a:solidFill>
                          <a:latin typeface="Calibri"/>
                        </a:rPr>
                        <a:t>Agents</a:t>
                      </a:r>
                    </a:p>
                  </a:txBody>
                  <a:tcPr marL="73152" marR="73152" marT="36576" marB="36576" anchor="ctr">
                    <a:solidFill>
                      <a:srgbClr val="FFFFFF"/>
                    </a:solidFill>
                  </a:tcPr>
                </a:tc>
                <a:tc>
                  <a:txBody>
                    <a:bodyPr/>
                    <a:lstStyle/>
                    <a:p>
                      <a:r>
                        <a:rPr sz="1300" b="0">
                          <a:solidFill>
                            <a:srgbClr val="1B2430"/>
                          </a:solidFill>
                          <a:latin typeface="Calibri"/>
                        </a:rPr>
                        <a:t>Google ADK 2.9 + Gemini 3.8 Flash</a:t>
                      </a:r>
                    </a:p>
                  </a:txBody>
                  <a:tcPr marL="73152" marR="73152" marT="36576" marB="36576" anchor="ctr">
                    <a:solidFill>
                      <a:srgbClr val="FFFFFF"/>
                    </a:solidFill>
                  </a:tcPr>
                </a:tc>
                <a:tc>
                  <a:txBody>
                    <a:bodyPr/>
                    <a:lstStyle/>
                    <a:p>
                      <a:r>
                        <a:rPr sz="1300" b="0">
                          <a:solidFill>
                            <a:srgbClr val="1B2430"/>
                          </a:solidFill>
                          <a:latin typeface="Calibri"/>
                        </a:rPr>
                        <a:t>Tools are plain Python functions; structured, validated output</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300" b="1">
                          <a:solidFill>
                            <a:srgbClr val="1B2430"/>
                          </a:solidFill>
                          <a:latin typeface="Calibri"/>
                        </a:rPr>
                        <a:t>Console</a:t>
                      </a:r>
                    </a:p>
                  </a:txBody>
                  <a:tcPr marL="73152" marR="73152" marT="36576" marB="36576" anchor="ctr">
                    <a:solidFill>
                      <a:srgbClr val="F1F3F5"/>
                    </a:solidFill>
                  </a:tcPr>
                </a:tc>
                <a:tc>
                  <a:txBody>
                    <a:bodyPr/>
                    <a:lstStyle/>
                    <a:p>
                      <a:r>
                        <a:rPr sz="1300" b="0">
                          <a:solidFill>
                            <a:srgbClr val="1B2430"/>
                          </a:solidFill>
                          <a:latin typeface="Calibri"/>
                        </a:rPr>
                        <a:t>React + TypeScript, FastAPI</a:t>
                      </a:r>
                    </a:p>
                  </a:txBody>
                  <a:tcPr marL="73152" marR="73152" marT="36576" marB="36576" anchor="ctr">
                    <a:solidFill>
                      <a:srgbClr val="F1F3F5"/>
                    </a:solidFill>
                  </a:tcPr>
                </a:tc>
                <a:tc>
                  <a:txBody>
                    <a:bodyPr/>
                    <a:lstStyle/>
                    <a:p>
                      <a:r>
                        <a:rPr sz="1300" b="0">
                          <a:solidFill>
                            <a:srgbClr val="1B2430"/>
                          </a:solidFill>
                          <a:latin typeface="Calibri"/>
                        </a:rPr>
                        <a:t>A responsive investigator interface; one service serves both</a:t>
                      </a:r>
                    </a:p>
                  </a:txBody>
                  <a:tcPr marL="73152" marR="73152" marT="36576" marB="36576" anchor="ctr">
                    <a:solidFill>
                      <a:srgbClr val="F1F3F5"/>
                    </a:solidFill>
                  </a:tcPr>
                </a:tc>
                <a:extLst>
                  <a:ext uri="{0D108BD9-81ED-4DB2-BD59-A6C34878D82A}">
                    <a16:rowId xmlns:a16="http://schemas.microsoft.com/office/drawing/2014/main" val="10006"/>
                  </a:ext>
                </a:extLst>
              </a:tr>
              <a:tr h="457200">
                <a:tc>
                  <a:txBody>
                    <a:bodyPr/>
                    <a:lstStyle/>
                    <a:p>
                      <a:r>
                        <a:rPr sz="1300" b="1">
                          <a:solidFill>
                            <a:srgbClr val="1B2430"/>
                          </a:solidFill>
                          <a:latin typeface="Calibri"/>
                        </a:rPr>
                        <a:t>Deployment</a:t>
                      </a:r>
                    </a:p>
                  </a:txBody>
                  <a:tcPr marL="73152" marR="73152" marT="36576" marB="36576" anchor="ctr">
                    <a:solidFill>
                      <a:srgbClr val="FFFFFF"/>
                    </a:solidFill>
                  </a:tcPr>
                </a:tc>
                <a:tc>
                  <a:txBody>
                    <a:bodyPr/>
                    <a:lstStyle/>
                    <a:p>
                      <a:r>
                        <a:rPr sz="1300" b="0">
                          <a:solidFill>
                            <a:srgbClr val="1B2430"/>
                          </a:solidFill>
                          <a:latin typeface="Calibri"/>
                        </a:rPr>
                        <a:t>Cloud Run, private access</a:t>
                      </a:r>
                    </a:p>
                  </a:txBody>
                  <a:tcPr marL="73152" marR="73152" marT="36576" marB="36576" anchor="ctr">
                    <a:solidFill>
                      <a:srgbClr val="FFFFFF"/>
                    </a:solidFill>
                  </a:tcPr>
                </a:tc>
                <a:tc>
                  <a:txBody>
                    <a:bodyPr/>
                    <a:lstStyle/>
                    <a:p>
                      <a:r>
                        <a:rPr sz="1300" b="0">
                          <a:solidFill>
                            <a:srgbClr val="1B2430"/>
                          </a:solidFill>
                          <a:latin typeface="Calibri"/>
                        </a:rPr>
                        <a:t>Scales to zero; only authorised accounts can open it</a:t>
                      </a:r>
                    </a:p>
                  </a:txBody>
                  <a:tcPr marL="73152" marR="73152" marT="36576" marB="36576" anchor="ctr">
                    <a:solidFill>
                      <a:srgbClr val="FFFFFF"/>
                    </a:solidFill>
                  </a:tcPr>
                </a:tc>
                <a:extLst>
                  <a:ext uri="{0D108BD9-81ED-4DB2-BD59-A6C34878D82A}">
                    <a16:rowId xmlns:a16="http://schemas.microsoft.com/office/drawing/2014/main" val="10007"/>
                  </a:ext>
                </a:extLst>
              </a:tr>
              <a:tr h="457200">
                <a:tc>
                  <a:txBody>
                    <a:bodyPr/>
                    <a:lstStyle/>
                    <a:p>
                      <a:r>
                        <a:rPr sz="1300" b="1">
                          <a:solidFill>
                            <a:srgbClr val="1B2430"/>
                          </a:solidFill>
                          <a:latin typeface="Calibri"/>
                        </a:rPr>
                        <a:t>Quality</a:t>
                      </a:r>
                    </a:p>
                  </a:txBody>
                  <a:tcPr marL="73152" marR="73152" marT="36576" marB="36576" anchor="ctr">
                    <a:solidFill>
                      <a:srgbClr val="F1F3F5"/>
                    </a:solidFill>
                  </a:tcPr>
                </a:tc>
                <a:tc>
                  <a:txBody>
                    <a:bodyPr/>
                    <a:lstStyle/>
                    <a:p>
                      <a:r>
                        <a:rPr sz="1300" b="0">
                          <a:solidFill>
                            <a:srgbClr val="1B2430"/>
                          </a:solidFill>
                          <a:latin typeface="Calibri"/>
                        </a:rPr>
                        <a:t>pytest, 37 tests</a:t>
                      </a:r>
                    </a:p>
                  </a:txBody>
                  <a:tcPr marL="73152" marR="73152" marT="36576" marB="36576" anchor="ctr">
                    <a:solidFill>
                      <a:srgbClr val="F1F3F5"/>
                    </a:solidFill>
                  </a:tcPr>
                </a:tc>
                <a:tc>
                  <a:txBody>
                    <a:bodyPr/>
                    <a:lstStyle/>
                    <a:p>
                      <a:r>
                        <a:rPr sz="1300" b="0">
                          <a:solidFill>
                            <a:srgbClr val="1B2430"/>
                          </a:solidFill>
                          <a:latin typeface="Calibri"/>
                        </a:rPr>
                        <a:t>Guard against label leakage, schema drift and broken wiring</a:t>
                      </a:r>
                    </a:p>
                  </a:txBody>
                  <a:tcPr marL="73152" marR="73152" marT="36576" marB="36576" anchor="ctr">
                    <a:solidFill>
                      <a:srgbClr val="F1F3F5"/>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6" name="TextBox 5"/>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690372"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PHASE 1</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Phase 1: loading and cleaning the data</a:t>
            </a:r>
          </a:p>
        </p:txBody>
      </p:sp>
      <p:sp>
        <p:nvSpPr>
          <p:cNvPr id="4" name="Rounded Rectangle 3"/>
          <p:cNvSpPr/>
          <p:nvPr/>
        </p:nvSpPr>
        <p:spPr>
          <a:xfrm>
            <a:off x="548640" y="1828800"/>
            <a:ext cx="1965960" cy="1005840"/>
          </a:xfrm>
          <a:prstGeom prst="roundRect">
            <a:avLst>
              <a:gd name="adj" fmla="val 8000"/>
            </a:avLst>
          </a:prstGeom>
          <a:solidFill>
            <a:srgbClr val="F1F3F5"/>
          </a:solidFill>
          <a:ln w="12700">
            <a:solidFill>
              <a:srgbClr val="D3DA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40080" y="1874519"/>
            <a:ext cx="1783080" cy="91440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CSV files</a:t>
            </a:r>
          </a:p>
          <a:p>
            <a:pPr algn="ctr">
              <a:spcAft>
                <a:spcPts val="200"/>
              </a:spcAft>
            </a:pPr>
            <a:r>
              <a:rPr sz="1100" b="0" i="0">
                <a:solidFill>
                  <a:srgbClr val="5E6973"/>
                </a:solidFill>
                <a:latin typeface="Calibri"/>
              </a:rPr>
              <a:t>4 files</a:t>
            </a:r>
          </a:p>
        </p:txBody>
      </p:sp>
      <p:cxnSp>
        <p:nvCxnSpPr>
          <p:cNvPr id="6" name="Connector 5"/>
          <p:cNvCxnSpPr/>
          <p:nvPr/>
        </p:nvCxnSpPr>
        <p:spPr>
          <a:xfrm>
            <a:off x="2532888" y="2331720"/>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1828800"/>
            <a:ext cx="1965960" cy="100584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926080" y="1874519"/>
            <a:ext cx="1783080" cy="91440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fraud_raw</a:t>
            </a:r>
          </a:p>
          <a:p>
            <a:pPr algn="ctr">
              <a:spcAft>
                <a:spcPts val="200"/>
              </a:spcAft>
            </a:pPr>
            <a:r>
              <a:rPr sz="1100" b="0" i="0">
                <a:solidFill>
                  <a:srgbClr val="5E6973"/>
                </a:solidFill>
                <a:latin typeface="Calibri"/>
              </a:rPr>
              <a:t>dates as text</a:t>
            </a:r>
          </a:p>
        </p:txBody>
      </p:sp>
      <p:cxnSp>
        <p:nvCxnSpPr>
          <p:cNvPr id="9" name="Connector 8"/>
          <p:cNvCxnSpPr/>
          <p:nvPr/>
        </p:nvCxnSpPr>
        <p:spPr>
          <a:xfrm>
            <a:off x="4818888" y="2331720"/>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828800"/>
            <a:ext cx="1965960" cy="100584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212079" y="1874519"/>
            <a:ext cx="1783080" cy="91440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fraud_clean</a:t>
            </a:r>
          </a:p>
          <a:p>
            <a:pPr algn="ctr">
              <a:spcAft>
                <a:spcPts val="200"/>
              </a:spcAft>
            </a:pPr>
            <a:r>
              <a:rPr sz="1100" b="0" i="0">
                <a:solidFill>
                  <a:srgbClr val="5E6973"/>
                </a:solidFill>
                <a:latin typeface="Calibri"/>
              </a:rPr>
              <a:t>typed, dq_* flags</a:t>
            </a:r>
          </a:p>
        </p:txBody>
      </p:sp>
      <p:cxnSp>
        <p:nvCxnSpPr>
          <p:cNvPr id="12" name="Connector 11"/>
          <p:cNvCxnSpPr/>
          <p:nvPr/>
        </p:nvCxnSpPr>
        <p:spPr>
          <a:xfrm>
            <a:off x="7104888" y="2331720"/>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406640" y="1828800"/>
            <a:ext cx="1965960" cy="100584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498079" y="1874519"/>
            <a:ext cx="1783080" cy="91440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fraud_features</a:t>
            </a:r>
          </a:p>
          <a:p>
            <a:pPr algn="ctr">
              <a:spcAft>
                <a:spcPts val="200"/>
              </a:spcAft>
            </a:pPr>
            <a:r>
              <a:rPr sz="1100" b="0" i="0">
                <a:solidFill>
                  <a:srgbClr val="5E6973"/>
                </a:solidFill>
                <a:latin typeface="Calibri"/>
              </a:rPr>
              <a:t>rules, scores, alerts</a:t>
            </a:r>
          </a:p>
        </p:txBody>
      </p:sp>
      <p:cxnSp>
        <p:nvCxnSpPr>
          <p:cNvPr id="15" name="Connector 14"/>
          <p:cNvCxnSpPr/>
          <p:nvPr/>
        </p:nvCxnSpPr>
        <p:spPr>
          <a:xfrm>
            <a:off x="9390888" y="2331720"/>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92640" y="1828800"/>
            <a:ext cx="1965960" cy="100584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784080" y="1874519"/>
            <a:ext cx="1783080" cy="91440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fraud_cases</a:t>
            </a:r>
          </a:p>
          <a:p>
            <a:pPr algn="ctr">
              <a:spcAft>
                <a:spcPts val="200"/>
              </a:spcAft>
            </a:pPr>
            <a:r>
              <a:rPr sz="1100" b="0" i="0">
                <a:solidFill>
                  <a:srgbClr val="5E6973"/>
                </a:solidFill>
                <a:latin typeface="Calibri"/>
              </a:rPr>
              <a:t>cases, decisions</a:t>
            </a:r>
          </a:p>
        </p:txBody>
      </p:sp>
      <p:sp>
        <p:nvSpPr>
          <p:cNvPr id="18" name="TextBox 17"/>
          <p:cNvSpPr txBox="1"/>
          <p:nvPr/>
        </p:nvSpPr>
        <p:spPr>
          <a:xfrm>
            <a:off x="548640" y="3291840"/>
            <a:ext cx="6766560" cy="2743200"/>
          </a:xfrm>
          <a:prstGeom prst="rect">
            <a:avLst/>
          </a:prstGeom>
          <a:noFill/>
        </p:spPr>
        <p:txBody>
          <a:bodyPr wrap="square" lIns="0" tIns="0" rIns="0" bIns="0">
            <a:spAutoFit/>
          </a:bodyPr>
          <a:lstStyle/>
          <a:p>
            <a:pPr marL="201168" indent="-201168">
              <a:spcAft>
                <a:spcPts val="800"/>
              </a:spcAft>
              <a:buChar char="•"/>
            </a:pPr>
            <a:r>
              <a:rPr sz="1400" b="1">
                <a:solidFill>
                  <a:srgbClr val="1B2430"/>
                </a:solidFill>
                <a:latin typeface="Calibri"/>
              </a:rPr>
              <a:t>Explicit schema for every file; </a:t>
            </a:r>
            <a:r>
              <a:rPr sz="1400" b="0">
                <a:solidFill>
                  <a:srgbClr val="1B2430"/>
                </a:solidFill>
                <a:latin typeface="Calibri"/>
              </a:rPr>
              <a:t>a malformed row fails the load instead of being skipped.</a:t>
            </a:r>
          </a:p>
          <a:p>
            <a:pPr marL="201168" indent="-201168">
              <a:spcAft>
                <a:spcPts val="800"/>
              </a:spcAft>
              <a:buChar char="•"/>
            </a:pPr>
            <a:r>
              <a:rPr sz="1400" b="1">
                <a:solidFill>
                  <a:srgbClr val="1B2430"/>
                </a:solidFill>
                <a:latin typeface="Calibri"/>
              </a:rPr>
              <a:t>Cleaning in SQL: </a:t>
            </a:r>
            <a:r>
              <a:rPr sz="1400" b="0">
                <a:solidFill>
                  <a:srgbClr val="1B2430"/>
                </a:solidFill>
                <a:latin typeface="Calibri"/>
              </a:rPr>
              <a:t>real dates, empty values made consistent.</a:t>
            </a:r>
          </a:p>
          <a:p>
            <a:pPr marL="201168" indent="-201168">
              <a:spcAft>
                <a:spcPts val="800"/>
              </a:spcAft>
              <a:buChar char="•"/>
            </a:pPr>
            <a:r>
              <a:rPr sz="1400" b="1">
                <a:solidFill>
                  <a:srgbClr val="1B2430"/>
                </a:solidFill>
                <a:latin typeface="Calibri"/>
              </a:rPr>
              <a:t>Data-quality flags, never deletions: </a:t>
            </a:r>
            <a:r>
              <a:rPr sz="1400" b="0">
                <a:solidFill>
                  <a:srgbClr val="1B2430"/>
                </a:solidFill>
                <a:latin typeface="Calibri"/>
              </a:rPr>
              <a:t>future dates, expired “Valid” licenses, conflicting agents.</a:t>
            </a:r>
          </a:p>
          <a:p>
            <a:pPr marL="201168" indent="-201168">
              <a:spcAft>
                <a:spcPts val="800"/>
              </a:spcAft>
              <a:buChar char="•"/>
            </a:pPr>
            <a:r>
              <a:rPr sz="1400" b="1">
                <a:solidFill>
                  <a:srgbClr val="1B2430"/>
                </a:solidFill>
                <a:latin typeface="Calibri"/>
              </a:rPr>
              <a:t>Row counts checked </a:t>
            </a:r>
            <a:r>
              <a:rPr sz="1400" b="0">
                <a:solidFill>
                  <a:srgbClr val="1B2430"/>
                </a:solidFill>
                <a:latin typeface="Calibri"/>
              </a:rPr>
              <a:t>across CSV, raw and clean tables: 1,000 each.</a:t>
            </a:r>
          </a:p>
        </p:txBody>
      </p:sp>
      <p:sp>
        <p:nvSpPr>
          <p:cNvPr id="19" name="Rounded Rectangle 18"/>
          <p:cNvSpPr/>
          <p:nvPr/>
        </p:nvSpPr>
        <p:spPr>
          <a:xfrm>
            <a:off x="7680960" y="3291840"/>
            <a:ext cx="3931920" cy="26517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955279" y="3474720"/>
            <a:ext cx="3474720" cy="365760"/>
          </a:xfrm>
          <a:prstGeom prst="rect">
            <a:avLst/>
          </a:prstGeom>
          <a:noFill/>
        </p:spPr>
        <p:txBody>
          <a:bodyPr wrap="square" lIns="0" tIns="0" rIns="0" bIns="0" anchor="t">
            <a:spAutoFit/>
          </a:bodyPr>
          <a:lstStyle/>
          <a:p>
            <a:pPr algn="l">
              <a:spcAft>
                <a:spcPts val="0"/>
              </a:spcAft>
            </a:pPr>
            <a:r>
              <a:rPr sz="1600" b="1" i="0">
                <a:solidFill>
                  <a:srgbClr val="E09A2B"/>
                </a:solidFill>
                <a:latin typeface="Calibri"/>
              </a:rPr>
              <a:t>Verified in BigQuery</a:t>
            </a:r>
          </a:p>
        </p:txBody>
      </p:sp>
      <p:sp>
        <p:nvSpPr>
          <p:cNvPr id="21" name="TextBox 20"/>
          <p:cNvSpPr txBox="1"/>
          <p:nvPr/>
        </p:nvSpPr>
        <p:spPr>
          <a:xfrm>
            <a:off x="7955279" y="3931920"/>
            <a:ext cx="3474720" cy="1920240"/>
          </a:xfrm>
          <a:prstGeom prst="rect">
            <a:avLst/>
          </a:prstGeom>
          <a:noFill/>
        </p:spPr>
        <p:txBody>
          <a:bodyPr wrap="square" lIns="0" tIns="0" rIns="0" bIns="0" anchor="t">
            <a:spAutoFit/>
          </a:bodyPr>
          <a:lstStyle/>
          <a:p>
            <a:pPr algn="l">
              <a:spcAft>
                <a:spcPts val="500"/>
              </a:spcAft>
            </a:pPr>
            <a:r>
              <a:rPr sz="1400" b="1" i="0">
                <a:solidFill>
                  <a:srgbClr val="FFFFFF"/>
                </a:solidFill>
                <a:latin typeface="Calibri"/>
              </a:rPr>
              <a:t>184 / 144 / 155 / 285</a:t>
            </a:r>
            <a:r>
              <a:rPr sz="1400" b="0" i="0">
                <a:solidFill>
                  <a:srgbClr val="C9D6EA"/>
                </a:solidFill>
                <a:latin typeface="Calibri"/>
              </a:rPr>
              <a:t> fraud rows</a:t>
            </a:r>
          </a:p>
          <a:p>
            <a:pPr algn="l">
              <a:spcAft>
                <a:spcPts val="500"/>
              </a:spcAft>
            </a:pPr>
            <a:r>
              <a:rPr sz="1400" b="1" i="0">
                <a:solidFill>
                  <a:srgbClr val="FFFFFF"/>
                </a:solidFill>
                <a:latin typeface="Calibri"/>
              </a:rPr>
              <a:t>92</a:t>
            </a:r>
            <a:r>
              <a:rPr sz="1400" b="0" i="0">
                <a:solidFill>
                  <a:srgbClr val="C9D6EA"/>
                </a:solidFill>
                <a:latin typeface="Calibri"/>
              </a:rPr>
              <a:t> future-dated claims</a:t>
            </a:r>
          </a:p>
          <a:p>
            <a:pPr algn="l">
              <a:spcAft>
                <a:spcPts val="500"/>
              </a:spcAft>
            </a:pPr>
            <a:r>
              <a:rPr sz="1400" b="1" i="0">
                <a:solidFill>
                  <a:srgbClr val="FFFFFF"/>
                </a:solidFill>
                <a:latin typeface="Calibri"/>
              </a:rPr>
              <a:t>603</a:t>
            </a:r>
            <a:r>
              <a:rPr sz="1400" b="0" i="0">
                <a:solidFill>
                  <a:srgbClr val="C9D6EA"/>
                </a:solidFill>
                <a:latin typeface="Calibri"/>
              </a:rPr>
              <a:t> expired “Valid” licenses</a:t>
            </a:r>
          </a:p>
          <a:p>
            <a:pPr algn="l">
              <a:spcAft>
                <a:spcPts val="500"/>
              </a:spcAft>
            </a:pPr>
            <a:r>
              <a:rPr sz="1400" b="1" i="0">
                <a:solidFill>
                  <a:srgbClr val="FFFFFF"/>
                </a:solidFill>
                <a:latin typeface="Calibri"/>
              </a:rPr>
              <a:t>50</a:t>
            </a:r>
            <a:r>
              <a:rPr sz="1400" b="0" i="0">
                <a:solidFill>
                  <a:srgbClr val="C9D6EA"/>
                </a:solidFill>
                <a:latin typeface="Calibri"/>
              </a:rPr>
              <a:t> agents with conflicting status</a:t>
            </a:r>
          </a:p>
          <a:p>
            <a:pPr algn="l">
              <a:spcAft>
                <a:spcPts val="500"/>
              </a:spcAft>
            </a:pPr>
            <a:r>
              <a:rPr sz="1400" b="1" i="0">
                <a:solidFill>
                  <a:srgbClr val="FFFFFF"/>
                </a:solidFill>
                <a:latin typeface="Calibri"/>
              </a:rPr>
              <a:t>438</a:t>
            </a:r>
            <a:r>
              <a:rPr sz="1400" b="0" i="0">
                <a:solidFill>
                  <a:srgbClr val="C9D6EA"/>
                </a:solidFill>
                <a:latin typeface="Calibri"/>
              </a:rPr>
              <a:t> agent sales with no policy</a:t>
            </a:r>
          </a:p>
        </p:txBody>
      </p:sp>
      <p:sp>
        <p:nvSpPr>
          <p:cNvPr id="22" name="TextBox 21"/>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23" name="TextBox 22"/>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534924"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RULES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Phase 1: a rules engine with measured severity</a:t>
            </a:r>
          </a:p>
        </p:txBody>
      </p:sp>
      <p:graphicFrame>
        <p:nvGraphicFramePr>
          <p:cNvPr id="4" name="Chart 3"/>
          <p:cNvGraphicFramePr>
            <a:graphicFrameLocks noGrp="1"/>
          </p:cNvGraphicFramePr>
          <p:nvPr/>
        </p:nvGraphicFramePr>
        <p:xfrm>
          <a:off x="548640" y="1737360"/>
          <a:ext cx="676656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7680960" y="1783080"/>
            <a:ext cx="3931920" cy="365760"/>
          </a:xfrm>
          <a:prstGeom prst="rect">
            <a:avLst/>
          </a:prstGeom>
          <a:noFill/>
        </p:spPr>
        <p:txBody>
          <a:bodyPr wrap="square" lIns="0" tIns="0" rIns="0" bIns="0" anchor="t">
            <a:spAutoFit/>
          </a:bodyPr>
          <a:lstStyle/>
          <a:p>
            <a:pPr algn="l">
              <a:spcAft>
                <a:spcPts val="0"/>
              </a:spcAft>
            </a:pPr>
            <a:r>
              <a:rPr sz="1600" b="1" i="0">
                <a:solidFill>
                  <a:srgbClr val="14213D"/>
                </a:solidFill>
                <a:latin typeface="Calibri"/>
              </a:rPr>
              <a:t>Severity comes from precision</a:t>
            </a:r>
          </a:p>
        </p:txBody>
      </p:sp>
      <p:graphicFrame>
        <p:nvGraphicFramePr>
          <p:cNvPr id="6" name="Table 5"/>
          <p:cNvGraphicFramePr>
            <a:graphicFrameLocks noGrp="1"/>
          </p:cNvGraphicFramePr>
          <p:nvPr/>
        </p:nvGraphicFramePr>
        <p:xfrm>
          <a:off x="7680960" y="2240280"/>
          <a:ext cx="3931920" cy="1536192"/>
        </p:xfrm>
        <a:graphic>
          <a:graphicData uri="http://schemas.openxmlformats.org/drawingml/2006/table">
            <a:tbl>
              <a:tblPr firstRow="1" bandRow="1">
                <a:tableStyleId>{5940675A-B579-460E-94D1-54222C63F5DA}</a:tableStyleId>
              </a:tblPr>
              <a:tblGrid>
                <a:gridCol w="13716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84048">
                <a:tc>
                  <a:txBody>
                    <a:bodyPr/>
                    <a:lstStyle/>
                    <a:p>
                      <a:r>
                        <a:rPr sz="1200" b="1">
                          <a:solidFill>
                            <a:srgbClr val="FFFFFF"/>
                          </a:solidFill>
                          <a:latin typeface="Calibri"/>
                        </a:rPr>
                        <a:t>Severity</a:t>
                      </a:r>
                    </a:p>
                  </a:txBody>
                  <a:tcPr marL="73152" marR="73152" marT="36576" marB="36576" anchor="ctr">
                    <a:solidFill>
                      <a:srgbClr val="14213D"/>
                    </a:solidFill>
                  </a:tcPr>
                </a:tc>
                <a:tc>
                  <a:txBody>
                    <a:bodyPr/>
                    <a:lstStyle/>
                    <a:p>
                      <a:r>
                        <a:rPr sz="1200" b="1">
                          <a:solidFill>
                            <a:srgbClr val="FFFFFF"/>
                          </a:solidFill>
                          <a:latin typeface="Calibri"/>
                        </a:rPr>
                        <a:t>Precision</a:t>
                      </a:r>
                    </a:p>
                  </a:txBody>
                  <a:tcPr marL="73152" marR="73152" marT="36576" marB="36576" anchor="ctr">
                    <a:solidFill>
                      <a:srgbClr val="14213D"/>
                    </a:solidFill>
                  </a:tcPr>
                </a:tc>
                <a:tc>
                  <a:txBody>
                    <a:bodyPr/>
                    <a:lstStyle/>
                    <a:p>
                      <a:r>
                        <a:rPr sz="1200" b="1">
                          <a:solidFill>
                            <a:srgbClr val="FFFFFF"/>
                          </a:solidFill>
                          <a:latin typeface="Calibri"/>
                        </a:rPr>
                        <a:t>Rules</a:t>
                      </a:r>
                    </a:p>
                  </a:txBody>
                  <a:tcPr marL="73152" marR="73152" marT="36576" marB="36576" anchor="ctr">
                    <a:solidFill>
                      <a:srgbClr val="14213D"/>
                    </a:solidFill>
                  </a:tcPr>
                </a:tc>
                <a:extLst>
                  <a:ext uri="{0D108BD9-81ED-4DB2-BD59-A6C34878D82A}">
                    <a16:rowId xmlns:a16="http://schemas.microsoft.com/office/drawing/2014/main" val="10000"/>
                  </a:ext>
                </a:extLst>
              </a:tr>
              <a:tr h="384048">
                <a:tc>
                  <a:txBody>
                    <a:bodyPr/>
                    <a:lstStyle/>
                    <a:p>
                      <a:r>
                        <a:rPr sz="1200" b="1">
                          <a:solidFill>
                            <a:srgbClr val="1B2430"/>
                          </a:solidFill>
                          <a:latin typeface="Calibri"/>
                        </a:rPr>
                        <a:t>critical</a:t>
                      </a:r>
                    </a:p>
                  </a:txBody>
                  <a:tcPr marL="73152" marR="73152" marT="36576" marB="36576" anchor="ctr">
                    <a:solidFill>
                      <a:srgbClr val="FFFFFF"/>
                    </a:solidFill>
                  </a:tcPr>
                </a:tc>
                <a:tc>
                  <a:txBody>
                    <a:bodyPr/>
                    <a:lstStyle/>
                    <a:p>
                      <a:r>
                        <a:rPr sz="1200" b="0">
                          <a:solidFill>
                            <a:srgbClr val="1B2430"/>
                          </a:solidFill>
                          <a:latin typeface="Calibri"/>
                        </a:rPr>
                        <a:t>≥ 95%</a:t>
                      </a:r>
                    </a:p>
                  </a:txBody>
                  <a:tcPr marL="73152" marR="73152" marT="36576" marB="36576" anchor="ctr">
                    <a:solidFill>
                      <a:srgbClr val="FFFFFF"/>
                    </a:solidFill>
                  </a:tcPr>
                </a:tc>
                <a:tc>
                  <a:txBody>
                    <a:bodyPr/>
                    <a:lstStyle/>
                    <a:p>
                      <a:r>
                        <a:rPr sz="1200" b="0">
                          <a:solidFill>
                            <a:srgbClr val="1B2430"/>
                          </a:solidFill>
                          <a:latin typeface="Calibri"/>
                        </a:rPr>
                        <a:t>11</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r>
                        <a:rPr sz="1200" b="1">
                          <a:solidFill>
                            <a:srgbClr val="1B2430"/>
                          </a:solidFill>
                          <a:latin typeface="Calibri"/>
                        </a:rPr>
                        <a:t>high</a:t>
                      </a:r>
                    </a:p>
                  </a:txBody>
                  <a:tcPr marL="73152" marR="73152" marT="36576" marB="36576" anchor="ctr">
                    <a:solidFill>
                      <a:srgbClr val="F1F3F5"/>
                    </a:solidFill>
                  </a:tcPr>
                </a:tc>
                <a:tc>
                  <a:txBody>
                    <a:bodyPr/>
                    <a:lstStyle/>
                    <a:p>
                      <a:r>
                        <a:rPr sz="1200" b="0">
                          <a:solidFill>
                            <a:srgbClr val="1B2430"/>
                          </a:solidFill>
                          <a:latin typeface="Calibri"/>
                        </a:rPr>
                        <a:t>≥ 60%</a:t>
                      </a:r>
                    </a:p>
                  </a:txBody>
                  <a:tcPr marL="73152" marR="73152" marT="36576" marB="36576" anchor="ctr">
                    <a:solidFill>
                      <a:srgbClr val="F1F3F5"/>
                    </a:solidFill>
                  </a:tcPr>
                </a:tc>
                <a:tc>
                  <a:txBody>
                    <a:bodyPr/>
                    <a:lstStyle/>
                    <a:p>
                      <a:r>
                        <a:rPr sz="1200" b="0">
                          <a:solidFill>
                            <a:srgbClr val="1B2430"/>
                          </a:solidFill>
                          <a:latin typeface="Calibri"/>
                        </a:rPr>
                        <a:t>4</a:t>
                      </a:r>
                    </a:p>
                  </a:txBody>
                  <a:tcPr marL="73152" marR="73152" marT="36576" marB="36576" anchor="ctr">
                    <a:solidFill>
                      <a:srgbClr val="F1F3F5"/>
                    </a:solidFill>
                  </a:tcPr>
                </a:tc>
                <a:extLst>
                  <a:ext uri="{0D108BD9-81ED-4DB2-BD59-A6C34878D82A}">
                    <a16:rowId xmlns:a16="http://schemas.microsoft.com/office/drawing/2014/main" val="10002"/>
                  </a:ext>
                </a:extLst>
              </a:tr>
              <a:tr h="384048">
                <a:tc>
                  <a:txBody>
                    <a:bodyPr/>
                    <a:lstStyle/>
                    <a:p>
                      <a:r>
                        <a:rPr sz="1200" b="1">
                          <a:solidFill>
                            <a:srgbClr val="1B2430"/>
                          </a:solidFill>
                          <a:latin typeface="Calibri"/>
                        </a:rPr>
                        <a:t>medium</a:t>
                      </a:r>
                    </a:p>
                  </a:txBody>
                  <a:tcPr marL="73152" marR="73152" marT="36576" marB="36576" anchor="ctr">
                    <a:solidFill>
                      <a:srgbClr val="FFFFFF"/>
                    </a:solidFill>
                  </a:tcPr>
                </a:tc>
                <a:tc>
                  <a:txBody>
                    <a:bodyPr/>
                    <a:lstStyle/>
                    <a:p>
                      <a:r>
                        <a:rPr sz="1200" b="0">
                          <a:solidFill>
                            <a:srgbClr val="1B2430"/>
                          </a:solidFill>
                          <a:latin typeface="Calibri"/>
                        </a:rPr>
                        <a:t>≥ 25%</a:t>
                      </a:r>
                    </a:p>
                  </a:txBody>
                  <a:tcPr marL="73152" marR="73152" marT="36576" marB="36576" anchor="ctr">
                    <a:solidFill>
                      <a:srgbClr val="FFFFFF"/>
                    </a:solidFill>
                  </a:tcPr>
                </a:tc>
                <a:tc>
                  <a:txBody>
                    <a:bodyPr/>
                    <a:lstStyle/>
                    <a:p>
                      <a:r>
                        <a:rPr sz="1200" b="0">
                          <a:solidFill>
                            <a:srgbClr val="1B2430"/>
                          </a:solidFill>
                          <a:latin typeface="Calibri"/>
                        </a:rPr>
                        <a:t>4</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680960" y="3977639"/>
            <a:ext cx="3931920" cy="2103120"/>
          </a:xfrm>
          <a:prstGeom prst="rect">
            <a:avLst/>
          </a:prstGeom>
          <a:noFill/>
        </p:spPr>
        <p:txBody>
          <a:bodyPr wrap="square" lIns="0" tIns="0" rIns="0" bIns="0" anchor="t">
            <a:spAutoFit/>
          </a:bodyPr>
          <a:lstStyle/>
          <a:p>
            <a:pPr algn="l">
              <a:spcAft>
                <a:spcPts val="0"/>
              </a:spcAft>
            </a:pPr>
            <a:r>
              <a:rPr sz="1300" b="1" i="0">
                <a:solidFill>
                  <a:srgbClr val="1B2430"/>
                </a:solidFill>
                <a:latin typeface="Calibri"/>
              </a:rPr>
              <a:t>Payments and agent sales are essentially solved by rules. </a:t>
            </a:r>
            <a:r>
              <a:rPr sz="1300" b="0" i="0">
                <a:solidFill>
                  <a:srgbClr val="1B2430"/>
                </a:solidFill>
                <a:latin typeface="Calibri"/>
              </a:rPr>
              <a:t>Claims are the weak spot: certain rules catch only 29.3%.</a:t>
            </a:r>
          </a:p>
          <a:p>
            <a:pPr algn="l">
              <a:spcAft>
                <a:spcPts val="0"/>
              </a:spcAft>
            </a:pPr>
            <a:endParaRPr sz="1300" b="0" i="0">
              <a:solidFill>
                <a:srgbClr val="1B2430"/>
              </a:solidFill>
              <a:latin typeface="Calibri"/>
            </a:endParaRPr>
          </a:p>
          <a:p>
            <a:pPr algn="l">
              <a:spcAft>
                <a:spcPts val="0"/>
              </a:spcAft>
            </a:pPr>
            <a:r>
              <a:rPr sz="1300" b="1" i="0">
                <a:solidFill>
                  <a:srgbClr val="B03A2E"/>
                </a:solidFill>
                <a:latin typeface="Calibri"/>
              </a:rPr>
              <a:t>Safeguard: </a:t>
            </a:r>
            <a:r>
              <a:rPr sz="1300" b="0" i="0">
                <a:solidFill>
                  <a:srgbClr val="1B2430"/>
                </a:solidFill>
                <a:latin typeface="Calibri"/>
              </a:rPr>
              <a:t>the engine refuses any rule that uses a label or outcome column.</a:t>
            </a:r>
          </a:p>
        </p:txBody>
      </p:sp>
      <p:sp>
        <p:nvSpPr>
          <p:cNvPr id="8" name="TextBox 7"/>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9" name="TextBox 8"/>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1078992"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CLAIMS MODEL</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Phase 2: a machine learning model for claims</a:t>
            </a:r>
          </a:p>
        </p:txBody>
      </p:sp>
      <p:graphicFrame>
        <p:nvGraphicFramePr>
          <p:cNvPr id="4" name="Chart 3"/>
          <p:cNvGraphicFramePr>
            <a:graphicFrameLocks noGrp="1"/>
          </p:cNvGraphicFramePr>
          <p:nvPr/>
        </p:nvGraphicFramePr>
        <p:xfrm>
          <a:off x="4846320" y="1737360"/>
          <a:ext cx="67665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548640" y="1783080"/>
            <a:ext cx="4114800" cy="640080"/>
          </a:xfrm>
          <a:prstGeom prst="rect">
            <a:avLst/>
          </a:prstGeom>
          <a:noFill/>
        </p:spPr>
        <p:txBody>
          <a:bodyPr wrap="square" lIns="0" tIns="0" rIns="0" bIns="0" anchor="t">
            <a:spAutoFit/>
          </a:bodyPr>
          <a:lstStyle/>
          <a:p>
            <a:pPr algn="l">
              <a:spcAft>
                <a:spcPts val="0"/>
              </a:spcAft>
            </a:pPr>
            <a:r>
              <a:rPr sz="3200" b="1" i="0">
                <a:solidFill>
                  <a:srgbClr val="1F7A74"/>
                </a:solidFill>
                <a:latin typeface="Cambria"/>
              </a:rPr>
              <a:t>29% → 35%</a:t>
            </a:r>
          </a:p>
        </p:txBody>
      </p:sp>
      <p:sp>
        <p:nvSpPr>
          <p:cNvPr id="6" name="TextBox 5"/>
          <p:cNvSpPr txBox="1"/>
          <p:nvPr/>
        </p:nvSpPr>
        <p:spPr>
          <a:xfrm>
            <a:off x="548640" y="2423160"/>
            <a:ext cx="4114800" cy="365760"/>
          </a:xfrm>
          <a:prstGeom prst="rect">
            <a:avLst/>
          </a:prstGeom>
          <a:noFill/>
        </p:spPr>
        <p:txBody>
          <a:bodyPr wrap="square" lIns="0" tIns="0" rIns="0" bIns="0" anchor="t">
            <a:spAutoFit/>
          </a:bodyPr>
          <a:lstStyle/>
          <a:p>
            <a:pPr algn="l">
              <a:spcAft>
                <a:spcPts val="0"/>
              </a:spcAft>
            </a:pPr>
            <a:r>
              <a:rPr sz="1200" b="0" i="0">
                <a:solidFill>
                  <a:srgbClr val="5E6973"/>
                </a:solidFill>
                <a:latin typeface="Calibri"/>
              </a:rPr>
              <a:t>recall at over 80% precision</a:t>
            </a:r>
          </a:p>
        </p:txBody>
      </p:sp>
      <p:sp>
        <p:nvSpPr>
          <p:cNvPr id="7" name="TextBox 6"/>
          <p:cNvSpPr txBox="1"/>
          <p:nvPr/>
        </p:nvSpPr>
        <p:spPr>
          <a:xfrm>
            <a:off x="548640" y="3017520"/>
            <a:ext cx="4114800" cy="640080"/>
          </a:xfrm>
          <a:prstGeom prst="rect">
            <a:avLst/>
          </a:prstGeom>
          <a:noFill/>
        </p:spPr>
        <p:txBody>
          <a:bodyPr wrap="square" lIns="0" tIns="0" rIns="0" bIns="0" anchor="t">
            <a:spAutoFit/>
          </a:bodyPr>
          <a:lstStyle/>
          <a:p>
            <a:pPr algn="l">
              <a:spcAft>
                <a:spcPts val="0"/>
              </a:spcAft>
            </a:pPr>
            <a:r>
              <a:rPr sz="3200" b="1" i="0">
                <a:solidFill>
                  <a:srgbClr val="1F7A74"/>
                </a:solidFill>
                <a:latin typeface="Cambria"/>
              </a:rPr>
              <a:t>0.571</a:t>
            </a:r>
          </a:p>
        </p:txBody>
      </p:sp>
      <p:sp>
        <p:nvSpPr>
          <p:cNvPr id="8" name="TextBox 7"/>
          <p:cNvSpPr txBox="1"/>
          <p:nvPr/>
        </p:nvSpPr>
        <p:spPr>
          <a:xfrm>
            <a:off x="548640" y="3657600"/>
            <a:ext cx="4114800" cy="365760"/>
          </a:xfrm>
          <a:prstGeom prst="rect">
            <a:avLst/>
          </a:prstGeom>
          <a:noFill/>
        </p:spPr>
        <p:txBody>
          <a:bodyPr wrap="square" lIns="0" tIns="0" rIns="0" bIns="0" anchor="t">
            <a:spAutoFit/>
          </a:bodyPr>
          <a:lstStyle/>
          <a:p>
            <a:pPr algn="l">
              <a:spcAft>
                <a:spcPts val="0"/>
              </a:spcAft>
            </a:pPr>
            <a:r>
              <a:rPr sz="1200" b="0" i="0">
                <a:solidFill>
                  <a:srgbClr val="5E6973"/>
                </a:solidFill>
                <a:latin typeface="Calibri"/>
              </a:rPr>
              <a:t>PR-AUC (rules 0.511, random 0.184)</a:t>
            </a:r>
          </a:p>
        </p:txBody>
      </p:sp>
      <p:sp>
        <p:nvSpPr>
          <p:cNvPr id="9" name="TextBox 8"/>
          <p:cNvSpPr txBox="1"/>
          <p:nvPr/>
        </p:nvSpPr>
        <p:spPr>
          <a:xfrm>
            <a:off x="548640" y="4343400"/>
            <a:ext cx="4023360" cy="1828800"/>
          </a:xfrm>
          <a:prstGeom prst="rect">
            <a:avLst/>
          </a:prstGeom>
          <a:noFill/>
        </p:spPr>
        <p:txBody>
          <a:bodyPr wrap="square" lIns="0" tIns="0" rIns="0" bIns="0">
            <a:spAutoFit/>
          </a:bodyPr>
          <a:lstStyle/>
          <a:p>
            <a:pPr marL="201168" indent="-201168">
              <a:spcAft>
                <a:spcPts val="600"/>
              </a:spcAft>
              <a:buChar char="•"/>
            </a:pPr>
            <a:r>
              <a:rPr sz="1300" b="0">
                <a:solidFill>
                  <a:srgbClr val="1B2430"/>
                </a:solidFill>
                <a:latin typeface="Calibri"/>
              </a:rPr>
              <a:t>Gradient-boosted trees on 29 features from all four files.</a:t>
            </a:r>
          </a:p>
          <a:p>
            <a:pPr marL="201168" indent="-201168">
              <a:spcAft>
                <a:spcPts val="600"/>
              </a:spcAft>
              <a:buChar char="•"/>
            </a:pPr>
            <a:r>
              <a:rPr sz="1300" b="0">
                <a:solidFill>
                  <a:srgbClr val="1B2430"/>
                </a:solidFill>
                <a:latin typeface="Calibri"/>
              </a:rPr>
              <a:t>Tested on agents it never saw, so it can't memorise them.</a:t>
            </a:r>
          </a:p>
          <a:p>
            <a:pPr marL="201168" indent="-201168">
              <a:spcAft>
                <a:spcPts val="600"/>
              </a:spcAft>
              <a:buChar char="•"/>
            </a:pPr>
            <a:r>
              <a:rPr sz="1300" b="0">
                <a:solidFill>
                  <a:srgbClr val="1B2430"/>
                </a:solidFill>
                <a:latin typeface="Calibri"/>
              </a:rPr>
              <a:t>Red bars: fraud that leaves no trace in the data.</a:t>
            </a:r>
          </a:p>
        </p:txBody>
      </p:sp>
      <p:sp>
        <p:nvSpPr>
          <p:cNvPr id="10" name="TextBox 9"/>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11" name="TextBox 10"/>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845820"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AI AGENTS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Phase 3: a team of AI agents</a:t>
            </a:r>
          </a:p>
        </p:txBody>
      </p:sp>
      <p:sp>
        <p:nvSpPr>
          <p:cNvPr id="4" name="Rounded Rectangle 3"/>
          <p:cNvSpPr/>
          <p:nvPr/>
        </p:nvSpPr>
        <p:spPr>
          <a:xfrm>
            <a:off x="4480560" y="1737360"/>
            <a:ext cx="3200400" cy="82296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4572000" y="1783080"/>
            <a:ext cx="3017520" cy="73152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Orchestrator</a:t>
            </a:r>
          </a:p>
          <a:p>
            <a:pPr algn="ctr">
              <a:spcAft>
                <a:spcPts val="200"/>
              </a:spcAft>
            </a:pPr>
            <a:r>
              <a:rPr sz="1100" b="0" i="0">
                <a:solidFill>
                  <a:srgbClr val="5E6973"/>
                </a:solidFill>
                <a:latin typeface="Calibri"/>
              </a:rPr>
              <a:t>routes each alert, adds context</a:t>
            </a:r>
          </a:p>
        </p:txBody>
      </p:sp>
      <p:sp>
        <p:nvSpPr>
          <p:cNvPr id="6" name="Rounded Rectangle 5"/>
          <p:cNvSpPr/>
          <p:nvPr/>
        </p:nvSpPr>
        <p:spPr>
          <a:xfrm>
            <a:off x="548640" y="3017520"/>
            <a:ext cx="2057400" cy="1051560"/>
          </a:xfrm>
          <a:prstGeom prst="roundRect">
            <a:avLst>
              <a:gd name="adj" fmla="val 8000"/>
            </a:avLst>
          </a:prstGeom>
          <a:solidFill>
            <a:srgbClr val="FFFFF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40080" y="3063239"/>
            <a:ext cx="1874519" cy="960119"/>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Claims agent</a:t>
            </a:r>
          </a:p>
          <a:p>
            <a:pPr algn="ctr">
              <a:spcAft>
                <a:spcPts val="200"/>
              </a:spcAft>
            </a:pPr>
            <a:r>
              <a:rPr sz="1000" b="0" i="0">
                <a:solidFill>
                  <a:srgbClr val="5E6973"/>
                </a:solidFill>
                <a:latin typeface="Calibri"/>
              </a:rPr>
              <a:t>duplicate, staged, fake, inflated, early claims</a:t>
            </a:r>
          </a:p>
        </p:txBody>
      </p:sp>
      <p:cxnSp>
        <p:nvCxnSpPr>
          <p:cNvPr id="8" name="Connector 7"/>
          <p:cNvCxnSpPr/>
          <p:nvPr/>
        </p:nvCxnSpPr>
        <p:spPr>
          <a:xfrm flipH="1">
            <a:off x="1572768" y="2578608"/>
            <a:ext cx="4507992" cy="420624"/>
          </a:xfrm>
          <a:prstGeom prst="line">
            <a:avLst/>
          </a:prstGeom>
          <a:ln w="12700">
            <a:solidFill>
              <a:srgbClr val="5E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07208" y="3017520"/>
            <a:ext cx="2057400" cy="1051560"/>
          </a:xfrm>
          <a:prstGeom prst="roundRect">
            <a:avLst>
              <a:gd name="adj" fmla="val 8000"/>
            </a:avLst>
          </a:prstGeom>
          <a:solidFill>
            <a:srgbClr val="FFFFF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2898648" y="3063239"/>
            <a:ext cx="1874519" cy="960119"/>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Policy agent</a:t>
            </a:r>
          </a:p>
          <a:p>
            <a:pPr algn="ctr">
              <a:spcAft>
                <a:spcPts val="200"/>
              </a:spcAft>
            </a:pPr>
            <a:r>
              <a:rPr sz="1000" b="0" i="0">
                <a:solidFill>
                  <a:srgbClr val="5E6973"/>
                </a:solidFill>
                <a:latin typeface="Calibri"/>
              </a:rPr>
              <a:t>fake, backdated, fronting, free-look</a:t>
            </a:r>
          </a:p>
        </p:txBody>
      </p:sp>
      <p:cxnSp>
        <p:nvCxnSpPr>
          <p:cNvPr id="11" name="Connector 10"/>
          <p:cNvCxnSpPr/>
          <p:nvPr/>
        </p:nvCxnSpPr>
        <p:spPr>
          <a:xfrm flipH="1">
            <a:off x="3831336" y="2578608"/>
            <a:ext cx="2249424" cy="420624"/>
          </a:xfrm>
          <a:prstGeom prst="line">
            <a:avLst/>
          </a:prstGeom>
          <a:ln w="12700">
            <a:solidFill>
              <a:srgbClr val="5E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65776" y="3017520"/>
            <a:ext cx="2057400" cy="1051560"/>
          </a:xfrm>
          <a:prstGeom prst="roundRect">
            <a:avLst>
              <a:gd name="adj" fmla="val 8000"/>
            </a:avLst>
          </a:prstGeom>
          <a:solidFill>
            <a:srgbClr val="FFFFF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157216" y="3063239"/>
            <a:ext cx="1874519" cy="960119"/>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Payment agent</a:t>
            </a:r>
          </a:p>
          <a:p>
            <a:pPr algn="ctr">
              <a:spcAft>
                <a:spcPts val="200"/>
              </a:spcAft>
            </a:pPr>
            <a:r>
              <a:rPr sz="1000" b="0" i="0">
                <a:solidFill>
                  <a:srgbClr val="5E6973"/>
                </a:solidFill>
                <a:latin typeface="Calibri"/>
              </a:rPr>
              <a:t>refunds, fake receipts, bounced, diverted</a:t>
            </a:r>
          </a:p>
        </p:txBody>
      </p:sp>
      <p:cxnSp>
        <p:nvCxnSpPr>
          <p:cNvPr id="14" name="Connector 13"/>
          <p:cNvCxnSpPr/>
          <p:nvPr/>
        </p:nvCxnSpPr>
        <p:spPr>
          <a:xfrm>
            <a:off x="6080760" y="2578608"/>
            <a:ext cx="9144" cy="420624"/>
          </a:xfrm>
          <a:prstGeom prst="line">
            <a:avLst/>
          </a:prstGeom>
          <a:ln w="12700">
            <a:solidFill>
              <a:srgbClr val="5E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3017520"/>
            <a:ext cx="2057400" cy="1051560"/>
          </a:xfrm>
          <a:prstGeom prst="roundRect">
            <a:avLst>
              <a:gd name="adj" fmla="val 8000"/>
            </a:avLst>
          </a:prstGeom>
          <a:solidFill>
            <a:srgbClr val="FFFFF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7415783" y="3063239"/>
            <a:ext cx="1874519" cy="960119"/>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Ghost-broking agent</a:t>
            </a:r>
          </a:p>
          <a:p>
            <a:pPr algn="ctr">
              <a:spcAft>
                <a:spcPts val="200"/>
              </a:spcAft>
            </a:pPr>
            <a:r>
              <a:rPr sz="1000" b="0" i="0">
                <a:solidFill>
                  <a:srgbClr val="5E6973"/>
                </a:solidFill>
                <a:latin typeface="Calibri"/>
              </a:rPr>
              <a:t>fake or unlicensed agents, pocketing</a:t>
            </a:r>
          </a:p>
        </p:txBody>
      </p:sp>
      <p:cxnSp>
        <p:nvCxnSpPr>
          <p:cNvPr id="17" name="Connector 16"/>
          <p:cNvCxnSpPr/>
          <p:nvPr/>
        </p:nvCxnSpPr>
        <p:spPr>
          <a:xfrm>
            <a:off x="6080760" y="2578608"/>
            <a:ext cx="2267711" cy="420624"/>
          </a:xfrm>
          <a:prstGeom prst="line">
            <a:avLst/>
          </a:prstGeom>
          <a:ln w="12700">
            <a:solidFill>
              <a:srgbClr val="5E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582912" y="3017520"/>
            <a:ext cx="2057400" cy="1051560"/>
          </a:xfrm>
          <a:prstGeom prst="roundRect">
            <a:avLst>
              <a:gd name="adj" fmla="val 8000"/>
            </a:avLst>
          </a:prstGeom>
          <a:solidFill>
            <a:srgbClr val="FFFFF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674352" y="3063239"/>
            <a:ext cx="1874519" cy="960119"/>
          </a:xfrm>
          <a:prstGeom prst="rect">
            <a:avLst/>
          </a:prstGeom>
          <a:noFill/>
        </p:spPr>
        <p:txBody>
          <a:bodyPr wrap="square" lIns="0" tIns="0" rIns="0" bIns="0" anchor="ctr">
            <a:spAutoFit/>
          </a:bodyPr>
          <a:lstStyle/>
          <a:p>
            <a:pPr algn="ctr">
              <a:spcAft>
                <a:spcPts val="200"/>
              </a:spcAft>
            </a:pPr>
            <a:r>
              <a:rPr sz="1300" b="1" i="0">
                <a:solidFill>
                  <a:srgbClr val="1B2430"/>
                </a:solidFill>
                <a:latin typeface="Calibri"/>
              </a:rPr>
              <a:t>Network agent</a:t>
            </a:r>
          </a:p>
          <a:p>
            <a:pPr algn="ctr">
              <a:spcAft>
                <a:spcPts val="200"/>
              </a:spcAft>
            </a:pPr>
            <a:r>
              <a:rPr sz="1000" b="0" i="0">
                <a:solidFill>
                  <a:srgbClr val="5E6973"/>
                </a:solidFill>
                <a:latin typeface="Calibri"/>
              </a:rPr>
              <a:t>fraud rings around agents and customers</a:t>
            </a:r>
          </a:p>
        </p:txBody>
      </p:sp>
      <p:cxnSp>
        <p:nvCxnSpPr>
          <p:cNvPr id="20" name="Connector 19"/>
          <p:cNvCxnSpPr/>
          <p:nvPr/>
        </p:nvCxnSpPr>
        <p:spPr>
          <a:xfrm>
            <a:off x="6080760" y="2578608"/>
            <a:ext cx="4526280" cy="420624"/>
          </a:xfrm>
          <a:prstGeom prst="line">
            <a:avLst/>
          </a:prstGeom>
          <a:ln w="12700">
            <a:solidFill>
              <a:srgbClr val="5E69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8640" y="4343400"/>
            <a:ext cx="11064240" cy="365760"/>
          </a:xfrm>
          <a:prstGeom prst="rect">
            <a:avLst/>
          </a:prstGeom>
          <a:noFill/>
        </p:spPr>
        <p:txBody>
          <a:bodyPr wrap="square" lIns="0" tIns="0" rIns="0" bIns="0" anchor="t">
            <a:spAutoFit/>
          </a:bodyPr>
          <a:lstStyle/>
          <a:p>
            <a:pPr algn="l">
              <a:spcAft>
                <a:spcPts val="0"/>
              </a:spcAft>
            </a:pPr>
            <a:r>
              <a:rPr sz="1500" b="1" i="0">
                <a:solidFill>
                  <a:srgbClr val="14213D"/>
                </a:solidFill>
                <a:latin typeface="Calibri"/>
              </a:rPr>
              <a:t>What every specialist has in common</a:t>
            </a:r>
          </a:p>
        </p:txBody>
      </p:sp>
      <p:sp>
        <p:nvSpPr>
          <p:cNvPr id="22" name="TextBox 21"/>
          <p:cNvSpPr txBox="1"/>
          <p:nvPr/>
        </p:nvSpPr>
        <p:spPr>
          <a:xfrm>
            <a:off x="548640" y="4754880"/>
            <a:ext cx="5486400" cy="1463040"/>
          </a:xfrm>
          <a:prstGeom prst="rect">
            <a:avLst/>
          </a:prstGeom>
          <a:noFill/>
        </p:spPr>
        <p:txBody>
          <a:bodyPr wrap="square" lIns="0" tIns="0" rIns="0" bIns="0">
            <a:spAutoFit/>
          </a:bodyPr>
          <a:lstStyle/>
          <a:p>
            <a:pPr marL="201168" indent="-201168">
              <a:spcAft>
                <a:spcPts val="500"/>
              </a:spcAft>
              <a:buChar char="•"/>
            </a:pPr>
            <a:r>
              <a:rPr sz="1300" b="0">
                <a:solidFill>
                  <a:srgbClr val="1B2430"/>
                </a:solidFill>
                <a:latin typeface="Calibri"/>
              </a:rPr>
              <a:t>Read-only BigQuery tools; parameterised queries.</a:t>
            </a:r>
          </a:p>
          <a:p>
            <a:pPr marL="201168" indent="-201168">
              <a:spcAft>
                <a:spcPts val="500"/>
              </a:spcAft>
              <a:buChar char="•"/>
            </a:pPr>
            <a:r>
              <a:rPr sz="1300" b="0">
                <a:solidFill>
                  <a:srgbClr val="1B2430"/>
                </a:solidFill>
                <a:latin typeface="Calibri"/>
              </a:rPr>
              <a:t>Tools report base rates, so a common pattern isn't mistaken for evidence.</a:t>
            </a:r>
          </a:p>
          <a:p>
            <a:pPr marL="201168" indent="-201168">
              <a:spcAft>
                <a:spcPts val="500"/>
              </a:spcAft>
              <a:buChar char="•"/>
            </a:pPr>
            <a:r>
              <a:rPr sz="1300" b="0">
                <a:solidFill>
                  <a:srgbClr val="1B2430"/>
                </a:solidFill>
                <a:latin typeface="Calibri"/>
              </a:rPr>
              <a:t>Labels and outcome columns are never returned.</a:t>
            </a:r>
          </a:p>
        </p:txBody>
      </p:sp>
      <p:sp>
        <p:nvSpPr>
          <p:cNvPr id="23" name="TextBox 22"/>
          <p:cNvSpPr txBox="1"/>
          <p:nvPr/>
        </p:nvSpPr>
        <p:spPr>
          <a:xfrm>
            <a:off x="6309360" y="4754880"/>
            <a:ext cx="5303520" cy="1463040"/>
          </a:xfrm>
          <a:prstGeom prst="rect">
            <a:avLst/>
          </a:prstGeom>
          <a:noFill/>
        </p:spPr>
        <p:txBody>
          <a:bodyPr wrap="square" lIns="0" tIns="0" rIns="0" bIns="0">
            <a:spAutoFit/>
          </a:bodyPr>
          <a:lstStyle/>
          <a:p>
            <a:pPr marL="201168" indent="-201168">
              <a:spcAft>
                <a:spcPts val="500"/>
              </a:spcAft>
              <a:buChar char="•"/>
            </a:pPr>
            <a:r>
              <a:rPr sz="1300" b="0">
                <a:solidFill>
                  <a:srgbClr val="1B2430"/>
                </a:solidFill>
                <a:latin typeface="Calibri"/>
              </a:rPr>
              <a:t>Findings in a fixed, validated format.</a:t>
            </a:r>
          </a:p>
          <a:p>
            <a:pPr marL="201168" indent="-201168">
              <a:spcAft>
                <a:spcPts val="500"/>
              </a:spcAft>
              <a:buChar char="•"/>
            </a:pPr>
            <a:r>
              <a:rPr sz="1300" b="0">
                <a:solidFill>
                  <a:srgbClr val="1B2430"/>
                </a:solidFill>
                <a:latin typeface="Calibri"/>
              </a:rPr>
              <a:t>Each can only name its own file's fraud types.</a:t>
            </a:r>
          </a:p>
          <a:p>
            <a:pPr marL="201168" indent="-201168">
              <a:spcAft>
                <a:spcPts val="500"/>
              </a:spcAft>
              <a:buChar char="•"/>
            </a:pPr>
            <a:r>
              <a:rPr sz="1300" b="0">
                <a:solidFill>
                  <a:srgbClr val="1B2430"/>
                </a:solidFill>
                <a:latin typeface="Calibri"/>
              </a:rPr>
              <a:t>Every fact must cite a record ID and exact values.</a:t>
            </a:r>
          </a:p>
        </p:txBody>
      </p:sp>
      <p:sp>
        <p:nvSpPr>
          <p:cNvPr id="24" name="TextBox 23"/>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25" name="TextBox 24"/>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1856232"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INVESTIGATION PIPELINE</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From alert to reviewed case</a:t>
            </a:r>
          </a:p>
        </p:txBody>
      </p:sp>
      <p:sp>
        <p:nvSpPr>
          <p:cNvPr id="4" name="Rounded Rectangle 3"/>
          <p:cNvSpPr/>
          <p:nvPr/>
        </p:nvSpPr>
        <p:spPr>
          <a:xfrm>
            <a:off x="548640" y="1783080"/>
            <a:ext cx="1965960" cy="960120"/>
          </a:xfrm>
          <a:prstGeom prst="roundRect">
            <a:avLst>
              <a:gd name="adj" fmla="val 8000"/>
            </a:avLst>
          </a:prstGeom>
          <a:solidFill>
            <a:srgbClr val="E2F1EF"/>
          </a:solidFill>
          <a:ln w="12700">
            <a:solidFill>
              <a:srgbClr val="1F7A7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40080" y="1828800"/>
            <a:ext cx="1783080" cy="86868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Alert queue</a:t>
            </a:r>
          </a:p>
          <a:p>
            <a:pPr algn="ctr">
              <a:spcAft>
                <a:spcPts val="200"/>
              </a:spcAft>
            </a:pPr>
            <a:r>
              <a:rPr sz="1100" b="0" i="0">
                <a:solidFill>
                  <a:srgbClr val="5E6973"/>
                </a:solidFill>
                <a:latin typeface="Calibri"/>
              </a:rPr>
              <a:t>778 alerts by priority</a:t>
            </a:r>
          </a:p>
        </p:txBody>
      </p:sp>
      <p:cxnSp>
        <p:nvCxnSpPr>
          <p:cNvPr id="6" name="Connector 5"/>
          <p:cNvCxnSpPr/>
          <p:nvPr/>
        </p:nvCxnSpPr>
        <p:spPr>
          <a:xfrm>
            <a:off x="2532888" y="2258568"/>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834640" y="1783080"/>
            <a:ext cx="1965960" cy="96012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2926080" y="1828800"/>
            <a:ext cx="1783080" cy="86868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Orchestrator</a:t>
            </a:r>
          </a:p>
          <a:p>
            <a:pPr algn="ctr">
              <a:spcAft>
                <a:spcPts val="200"/>
              </a:spcAft>
            </a:pPr>
            <a:r>
              <a:rPr sz="1100" b="0" i="0">
                <a:solidFill>
                  <a:srgbClr val="5E6973"/>
                </a:solidFill>
                <a:latin typeface="Calibri"/>
              </a:rPr>
              <a:t>+ specialists</a:t>
            </a:r>
          </a:p>
        </p:txBody>
      </p:sp>
      <p:cxnSp>
        <p:nvCxnSpPr>
          <p:cNvPr id="9" name="Connector 8"/>
          <p:cNvCxnSpPr/>
          <p:nvPr/>
        </p:nvCxnSpPr>
        <p:spPr>
          <a:xfrm>
            <a:off x="4818888" y="2258568"/>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20640" y="1783080"/>
            <a:ext cx="1965960" cy="96012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5212079" y="1828800"/>
            <a:ext cx="1783080" cy="86868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Case writer</a:t>
            </a:r>
          </a:p>
          <a:p>
            <a:pPr algn="ctr">
              <a:spcAft>
                <a:spcPts val="200"/>
              </a:spcAft>
            </a:pPr>
            <a:r>
              <a:rPr sz="1100" b="0" i="0">
                <a:solidFill>
                  <a:srgbClr val="5E6973"/>
                </a:solidFill>
                <a:latin typeface="Calibri"/>
              </a:rPr>
              <a:t>only facts from the notes</a:t>
            </a:r>
          </a:p>
        </p:txBody>
      </p:sp>
      <p:cxnSp>
        <p:nvCxnSpPr>
          <p:cNvPr id="12" name="Connector 11"/>
          <p:cNvCxnSpPr/>
          <p:nvPr/>
        </p:nvCxnSpPr>
        <p:spPr>
          <a:xfrm>
            <a:off x="7104888" y="2258568"/>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406640" y="1783080"/>
            <a:ext cx="1965960" cy="960120"/>
          </a:xfrm>
          <a:prstGeom prst="roundRect">
            <a:avLst>
              <a:gd name="adj" fmla="val 8000"/>
            </a:avLst>
          </a:prstGeom>
          <a:solidFill>
            <a:srgbClr val="FCF1DF"/>
          </a:solidFill>
          <a:ln w="12700">
            <a:solidFill>
              <a:srgbClr val="E09A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498079" y="1828800"/>
            <a:ext cx="1783080" cy="86868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Reviewer</a:t>
            </a:r>
          </a:p>
          <a:p>
            <a:pPr algn="ctr">
              <a:spcAft>
                <a:spcPts val="200"/>
              </a:spcAft>
            </a:pPr>
            <a:r>
              <a:rPr sz="1100" b="0" i="0">
                <a:solidFill>
                  <a:srgbClr val="5E6973"/>
                </a:solidFill>
                <a:latin typeface="Calibri"/>
              </a:rPr>
              <a:t>re-checks every fact</a:t>
            </a:r>
          </a:p>
        </p:txBody>
      </p:sp>
      <p:cxnSp>
        <p:nvCxnSpPr>
          <p:cNvPr id="15" name="Connector 14"/>
          <p:cNvCxnSpPr/>
          <p:nvPr/>
        </p:nvCxnSpPr>
        <p:spPr>
          <a:xfrm>
            <a:off x="9390888" y="2258568"/>
            <a:ext cx="283464" cy="0"/>
          </a:xfrm>
          <a:prstGeom prst="line">
            <a:avLst/>
          </a:prstGeom>
          <a:ln w="25400">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92640" y="1783080"/>
            <a:ext cx="1965960" cy="960120"/>
          </a:xfrm>
          <a:prstGeom prst="roundRect">
            <a:avLst>
              <a:gd name="adj" fmla="val 8000"/>
            </a:avLst>
          </a:prstGeom>
          <a:solidFill>
            <a:srgbClr val="F8E5E2"/>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9784080" y="1828800"/>
            <a:ext cx="1783080" cy="868680"/>
          </a:xfrm>
          <a:prstGeom prst="rect">
            <a:avLst/>
          </a:prstGeom>
          <a:noFill/>
        </p:spPr>
        <p:txBody>
          <a:bodyPr wrap="square" lIns="0" tIns="0" rIns="0" bIns="0" anchor="ctr">
            <a:spAutoFit/>
          </a:bodyPr>
          <a:lstStyle/>
          <a:p>
            <a:pPr algn="ctr">
              <a:spcAft>
                <a:spcPts val="200"/>
              </a:spcAft>
            </a:pPr>
            <a:r>
              <a:rPr sz="1500" b="1" i="0">
                <a:solidFill>
                  <a:srgbClr val="1B2430"/>
                </a:solidFill>
                <a:latin typeface="Calibri"/>
              </a:rPr>
              <a:t>Investigator</a:t>
            </a:r>
          </a:p>
          <a:p>
            <a:pPr algn="ctr">
              <a:spcAft>
                <a:spcPts val="200"/>
              </a:spcAft>
            </a:pPr>
            <a:r>
              <a:rPr sz="1100" b="0" i="0">
                <a:solidFill>
                  <a:srgbClr val="5E6973"/>
                </a:solidFill>
                <a:latin typeface="Calibri"/>
              </a:rPr>
              <a:t>confirm or dismiss</a:t>
            </a:r>
          </a:p>
        </p:txBody>
      </p:sp>
      <p:sp>
        <p:nvSpPr>
          <p:cNvPr id="18" name="TextBox 17"/>
          <p:cNvSpPr txBox="1"/>
          <p:nvPr/>
        </p:nvSpPr>
        <p:spPr>
          <a:xfrm>
            <a:off x="548640" y="3063240"/>
            <a:ext cx="6400800" cy="3108960"/>
          </a:xfrm>
          <a:prstGeom prst="rect">
            <a:avLst/>
          </a:prstGeom>
          <a:noFill/>
        </p:spPr>
        <p:txBody>
          <a:bodyPr wrap="square" lIns="0" tIns="0" rIns="0" bIns="0" anchor="t">
            <a:spAutoFit/>
          </a:bodyPr>
          <a:lstStyle/>
          <a:p>
            <a:pPr algn="l">
              <a:spcAft>
                <a:spcPts val="1000"/>
              </a:spcAft>
            </a:pPr>
            <a:r>
              <a:rPr sz="1400" b="1" i="0">
                <a:solidFill>
                  <a:srgbClr val="14213D"/>
                </a:solidFill>
                <a:latin typeface="Calibri"/>
              </a:rPr>
              <a:t>Alerts: </a:t>
            </a:r>
            <a:r>
              <a:rPr sz="1400" b="0" i="0">
                <a:solidFill>
                  <a:srgbClr val="1B2430"/>
                </a:solidFill>
                <a:latin typeface="Calibri"/>
              </a:rPr>
              <a:t>a high or critical rule hit, or a claims model score ≥ 0.42. 608 of the 778 are real fraud.</a:t>
            </a:r>
          </a:p>
          <a:p>
            <a:pPr algn="l">
              <a:spcAft>
                <a:spcPts val="1000"/>
              </a:spcAft>
            </a:pPr>
            <a:r>
              <a:rPr sz="1400" b="1" i="0">
                <a:solidFill>
                  <a:srgbClr val="14213D"/>
                </a:solidFill>
                <a:latin typeface="Calibri"/>
              </a:rPr>
              <a:t>Case writer: </a:t>
            </a:r>
            <a:r>
              <a:rPr sz="1400" b="0" i="0">
                <a:solidFill>
                  <a:srgbClr val="1B2430"/>
                </a:solidFill>
                <a:latin typeface="Calibri"/>
              </a:rPr>
              <a:t>evidence with record IDs, people involved, open questions, next steps.</a:t>
            </a:r>
          </a:p>
          <a:p>
            <a:pPr algn="l">
              <a:spcAft>
                <a:spcPts val="1000"/>
              </a:spcAft>
            </a:pPr>
            <a:r>
              <a:rPr sz="1400" b="1" i="0">
                <a:solidFill>
                  <a:srgbClr val="14213D"/>
                </a:solidFill>
                <a:latin typeface="Calibri"/>
              </a:rPr>
              <a:t>Reviewer: </a:t>
            </a:r>
            <a:r>
              <a:rPr sz="1400" b="0" i="0">
                <a:solidFill>
                  <a:srgbClr val="1B2430"/>
                </a:solidFill>
                <a:latin typeface="Calibri"/>
              </a:rPr>
              <a:t>never sees the notes. Checks every cited ID exists, re-queries each fact, and corrects the risk, action or fraud types.</a:t>
            </a:r>
          </a:p>
          <a:p>
            <a:pPr algn="l">
              <a:spcAft>
                <a:spcPts val="1000"/>
              </a:spcAft>
            </a:pPr>
            <a:r>
              <a:rPr sz="1400" b="1" i="0">
                <a:solidFill>
                  <a:srgbClr val="14213D"/>
                </a:solidFill>
                <a:latin typeface="Calibri"/>
              </a:rPr>
              <a:t>Honest evaluation: </a:t>
            </a:r>
            <a:r>
              <a:rPr sz="1400" b="0" i="0">
                <a:solidFill>
                  <a:srgbClr val="1B2430"/>
                </a:solidFill>
                <a:latin typeface="Calibri"/>
              </a:rPr>
              <a:t>labels are hidden from the agents and used only to score them.</a:t>
            </a:r>
          </a:p>
        </p:txBody>
      </p:sp>
      <p:sp>
        <p:nvSpPr>
          <p:cNvPr id="19" name="Rounded Rectangle 18"/>
          <p:cNvSpPr/>
          <p:nvPr/>
        </p:nvSpPr>
        <p:spPr>
          <a:xfrm>
            <a:off x="7315200" y="3063240"/>
            <a:ext cx="4297680" cy="306324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589520" y="3246120"/>
            <a:ext cx="3749039" cy="365760"/>
          </a:xfrm>
          <a:prstGeom prst="rect">
            <a:avLst/>
          </a:prstGeom>
          <a:noFill/>
        </p:spPr>
        <p:txBody>
          <a:bodyPr wrap="square" lIns="0" tIns="0" rIns="0" bIns="0" anchor="t">
            <a:spAutoFit/>
          </a:bodyPr>
          <a:lstStyle/>
          <a:p>
            <a:pPr algn="l">
              <a:spcAft>
                <a:spcPts val="0"/>
              </a:spcAft>
            </a:pPr>
            <a:r>
              <a:rPr sz="1600" b="1" i="0">
                <a:solidFill>
                  <a:srgbClr val="E09A2B"/>
                </a:solidFill>
                <a:latin typeface="Calibri"/>
              </a:rPr>
              <a:t>Live results</a:t>
            </a:r>
          </a:p>
        </p:txBody>
      </p:sp>
      <p:sp>
        <p:nvSpPr>
          <p:cNvPr id="21" name="TextBox 20"/>
          <p:cNvSpPr txBox="1"/>
          <p:nvPr/>
        </p:nvSpPr>
        <p:spPr>
          <a:xfrm>
            <a:off x="7589520" y="3703320"/>
            <a:ext cx="1188720" cy="502920"/>
          </a:xfrm>
          <a:prstGeom prst="rect">
            <a:avLst/>
          </a:prstGeom>
          <a:noFill/>
        </p:spPr>
        <p:txBody>
          <a:bodyPr wrap="square" lIns="0" tIns="0" rIns="0" bIns="0" anchor="ctr">
            <a:spAutoFit/>
          </a:bodyPr>
          <a:lstStyle/>
          <a:p>
            <a:pPr algn="l">
              <a:spcAft>
                <a:spcPts val="0"/>
              </a:spcAft>
            </a:pPr>
            <a:r>
              <a:rPr sz="2200" b="1" i="0">
                <a:solidFill>
                  <a:srgbClr val="FFFFFF"/>
                </a:solidFill>
                <a:latin typeface="Cambria"/>
              </a:rPr>
              <a:t>72</a:t>
            </a:r>
          </a:p>
        </p:txBody>
      </p:sp>
      <p:sp>
        <p:nvSpPr>
          <p:cNvPr id="22" name="TextBox 21"/>
          <p:cNvSpPr txBox="1"/>
          <p:nvPr/>
        </p:nvSpPr>
        <p:spPr>
          <a:xfrm>
            <a:off x="8823960" y="3703320"/>
            <a:ext cx="2651760" cy="502920"/>
          </a:xfrm>
          <a:prstGeom prst="rect">
            <a:avLst/>
          </a:prstGeom>
          <a:noFill/>
        </p:spPr>
        <p:txBody>
          <a:bodyPr wrap="square" lIns="0" tIns="0" rIns="0" bIns="0" anchor="ctr">
            <a:spAutoFit/>
          </a:bodyPr>
          <a:lstStyle/>
          <a:p>
            <a:pPr algn="l">
              <a:spcAft>
                <a:spcPts val="0"/>
              </a:spcAft>
            </a:pPr>
            <a:r>
              <a:rPr sz="1200" b="0" i="0">
                <a:solidFill>
                  <a:srgbClr val="C9D6EA"/>
                </a:solidFill>
                <a:latin typeface="Calibri"/>
              </a:rPr>
              <a:t>facts checked by the reviewer</a:t>
            </a:r>
          </a:p>
        </p:txBody>
      </p:sp>
      <p:sp>
        <p:nvSpPr>
          <p:cNvPr id="23" name="TextBox 22"/>
          <p:cNvSpPr txBox="1"/>
          <p:nvPr/>
        </p:nvSpPr>
        <p:spPr>
          <a:xfrm>
            <a:off x="7589520" y="4288536"/>
            <a:ext cx="1188720" cy="502920"/>
          </a:xfrm>
          <a:prstGeom prst="rect">
            <a:avLst/>
          </a:prstGeom>
          <a:noFill/>
        </p:spPr>
        <p:txBody>
          <a:bodyPr wrap="square" lIns="0" tIns="0" rIns="0" bIns="0" anchor="ctr">
            <a:spAutoFit/>
          </a:bodyPr>
          <a:lstStyle/>
          <a:p>
            <a:pPr algn="l">
              <a:spcAft>
                <a:spcPts val="0"/>
              </a:spcAft>
            </a:pPr>
            <a:r>
              <a:rPr sz="2200" b="1" i="0">
                <a:solidFill>
                  <a:srgbClr val="FFFFFF"/>
                </a:solidFill>
                <a:latin typeface="Cambria"/>
              </a:rPr>
              <a:t>71</a:t>
            </a:r>
          </a:p>
        </p:txBody>
      </p:sp>
      <p:sp>
        <p:nvSpPr>
          <p:cNvPr id="24" name="TextBox 23"/>
          <p:cNvSpPr txBox="1"/>
          <p:nvPr/>
        </p:nvSpPr>
        <p:spPr>
          <a:xfrm>
            <a:off x="8823960" y="4288536"/>
            <a:ext cx="2651760" cy="502920"/>
          </a:xfrm>
          <a:prstGeom prst="rect">
            <a:avLst/>
          </a:prstGeom>
          <a:noFill/>
        </p:spPr>
        <p:txBody>
          <a:bodyPr wrap="square" lIns="0" tIns="0" rIns="0" bIns="0" anchor="ctr">
            <a:spAutoFit/>
          </a:bodyPr>
          <a:lstStyle/>
          <a:p>
            <a:pPr algn="l">
              <a:spcAft>
                <a:spcPts val="0"/>
              </a:spcAft>
            </a:pPr>
            <a:r>
              <a:rPr sz="1200" b="0" i="0">
                <a:solidFill>
                  <a:srgbClr val="C9D6EA"/>
                </a:solidFill>
                <a:latin typeface="Calibri"/>
              </a:rPr>
              <a:t>verified; 1 unverifiable, 0 wrong</a:t>
            </a:r>
          </a:p>
        </p:txBody>
      </p:sp>
      <p:sp>
        <p:nvSpPr>
          <p:cNvPr id="25" name="TextBox 24"/>
          <p:cNvSpPr txBox="1"/>
          <p:nvPr/>
        </p:nvSpPr>
        <p:spPr>
          <a:xfrm>
            <a:off x="7589520" y="4873752"/>
            <a:ext cx="1188720" cy="502920"/>
          </a:xfrm>
          <a:prstGeom prst="rect">
            <a:avLst/>
          </a:prstGeom>
          <a:noFill/>
        </p:spPr>
        <p:txBody>
          <a:bodyPr wrap="square" lIns="0" tIns="0" rIns="0" bIns="0" anchor="ctr">
            <a:spAutoFit/>
          </a:bodyPr>
          <a:lstStyle/>
          <a:p>
            <a:pPr algn="l">
              <a:spcAft>
                <a:spcPts val="0"/>
              </a:spcAft>
            </a:pPr>
            <a:r>
              <a:rPr sz="2200" b="1" i="0">
                <a:solidFill>
                  <a:srgbClr val="FFFFFF"/>
                </a:solidFill>
                <a:latin typeface="Cambria"/>
              </a:rPr>
              <a:t>8 / 8</a:t>
            </a:r>
          </a:p>
        </p:txBody>
      </p:sp>
      <p:sp>
        <p:nvSpPr>
          <p:cNvPr id="26" name="TextBox 25"/>
          <p:cNvSpPr txBox="1"/>
          <p:nvPr/>
        </p:nvSpPr>
        <p:spPr>
          <a:xfrm>
            <a:off x="8823960" y="4873752"/>
            <a:ext cx="2651760" cy="502920"/>
          </a:xfrm>
          <a:prstGeom prst="rect">
            <a:avLst/>
          </a:prstGeom>
          <a:noFill/>
        </p:spPr>
        <p:txBody>
          <a:bodyPr wrap="square" lIns="0" tIns="0" rIns="0" bIns="0" anchor="ctr">
            <a:spAutoFit/>
          </a:bodyPr>
          <a:lstStyle/>
          <a:p>
            <a:pPr algn="l">
              <a:spcAft>
                <a:spcPts val="0"/>
              </a:spcAft>
            </a:pPr>
            <a:r>
              <a:rPr sz="1200" b="0" i="0">
                <a:solidFill>
                  <a:srgbClr val="C9D6EA"/>
                </a:solidFill>
                <a:latin typeface="Calibri"/>
              </a:rPr>
              <a:t>top alerts: correct fraud type</a:t>
            </a:r>
          </a:p>
        </p:txBody>
      </p:sp>
      <p:sp>
        <p:nvSpPr>
          <p:cNvPr id="27" name="TextBox 26"/>
          <p:cNvSpPr txBox="1"/>
          <p:nvPr/>
        </p:nvSpPr>
        <p:spPr>
          <a:xfrm>
            <a:off x="7589520" y="5458968"/>
            <a:ext cx="1188720" cy="502920"/>
          </a:xfrm>
          <a:prstGeom prst="rect">
            <a:avLst/>
          </a:prstGeom>
          <a:noFill/>
        </p:spPr>
        <p:txBody>
          <a:bodyPr wrap="square" lIns="0" tIns="0" rIns="0" bIns="0" anchor="ctr">
            <a:spAutoFit/>
          </a:bodyPr>
          <a:lstStyle/>
          <a:p>
            <a:pPr algn="l">
              <a:spcAft>
                <a:spcPts val="0"/>
              </a:spcAft>
            </a:pPr>
            <a:r>
              <a:rPr sz="2200" b="1" i="0">
                <a:solidFill>
                  <a:srgbClr val="FFFFFF"/>
                </a:solidFill>
                <a:latin typeface="Cambria"/>
              </a:rPr>
              <a:t>4 / 5</a:t>
            </a:r>
          </a:p>
        </p:txBody>
      </p:sp>
      <p:sp>
        <p:nvSpPr>
          <p:cNvPr id="28" name="TextBox 27"/>
          <p:cNvSpPr txBox="1"/>
          <p:nvPr/>
        </p:nvSpPr>
        <p:spPr>
          <a:xfrm>
            <a:off x="8823960" y="5458968"/>
            <a:ext cx="2651760" cy="502920"/>
          </a:xfrm>
          <a:prstGeom prst="rect">
            <a:avLst/>
          </a:prstGeom>
          <a:noFill/>
        </p:spPr>
        <p:txBody>
          <a:bodyPr wrap="square" lIns="0" tIns="0" rIns="0" bIns="0" anchor="ctr">
            <a:spAutoFit/>
          </a:bodyPr>
          <a:lstStyle/>
          <a:p>
            <a:pPr algn="l">
              <a:spcAft>
                <a:spcPts val="0"/>
              </a:spcAft>
            </a:pPr>
            <a:r>
              <a:rPr sz="1200" b="0" i="0">
                <a:solidFill>
                  <a:srgbClr val="C9D6EA"/>
                </a:solidFill>
                <a:latin typeface="Calibri"/>
              </a:rPr>
              <a:t>specialist test alerts correct</a:t>
            </a:r>
          </a:p>
        </p:txBody>
      </p:sp>
      <p:sp>
        <p:nvSpPr>
          <p:cNvPr id="29" name="TextBox 28"/>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30" name="TextBox 29"/>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768096"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NETWORKS</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Network analysis finds what screening missed</a:t>
            </a:r>
          </a:p>
        </p:txBody>
      </p:sp>
      <p:graphicFrame>
        <p:nvGraphicFramePr>
          <p:cNvPr id="4" name="Chart 3"/>
          <p:cNvGraphicFramePr>
            <a:graphicFrameLocks noGrp="1"/>
          </p:cNvGraphicFramePr>
          <p:nvPr/>
        </p:nvGraphicFramePr>
        <p:xfrm>
          <a:off x="548640" y="1737360"/>
          <a:ext cx="51206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p:cNvSpPr txBox="1"/>
          <p:nvPr/>
        </p:nvSpPr>
        <p:spPr>
          <a:xfrm>
            <a:off x="6126480" y="1783080"/>
            <a:ext cx="5486400" cy="457200"/>
          </a:xfrm>
          <a:prstGeom prst="rect">
            <a:avLst/>
          </a:prstGeom>
          <a:noFill/>
        </p:spPr>
        <p:txBody>
          <a:bodyPr wrap="square" lIns="0" tIns="0" rIns="0" bIns="0" anchor="t">
            <a:spAutoFit/>
          </a:bodyPr>
          <a:lstStyle/>
          <a:p>
            <a:pPr algn="l">
              <a:spcAft>
                <a:spcPts val="0"/>
              </a:spcAft>
            </a:pPr>
            <a:r>
              <a:rPr sz="1500" b="1" i="0">
                <a:solidFill>
                  <a:srgbClr val="14213D"/>
                </a:solidFill>
                <a:latin typeface="Calibri"/>
              </a:rPr>
              <a:t>A hub: an agent or customer tied to 5+ alerts across 2+ files</a:t>
            </a:r>
          </a:p>
        </p:txBody>
      </p:sp>
      <p:sp>
        <p:nvSpPr>
          <p:cNvPr id="6" name="TextBox 5"/>
          <p:cNvSpPr txBox="1"/>
          <p:nvPr/>
        </p:nvSpPr>
        <p:spPr>
          <a:xfrm>
            <a:off x="6126480" y="2331720"/>
            <a:ext cx="5486400" cy="2743200"/>
          </a:xfrm>
          <a:prstGeom prst="rect">
            <a:avLst/>
          </a:prstGeom>
          <a:noFill/>
        </p:spPr>
        <p:txBody>
          <a:bodyPr wrap="square" lIns="0" tIns="0" rIns="0" bIns="0">
            <a:spAutoFit/>
          </a:bodyPr>
          <a:lstStyle/>
          <a:p>
            <a:pPr marL="201168" indent="-201168">
              <a:spcAft>
                <a:spcPts val="800"/>
              </a:spcAft>
              <a:buChar char="•"/>
            </a:pPr>
            <a:r>
              <a:rPr sz="1400" b="1">
                <a:solidFill>
                  <a:srgbClr val="1B2430"/>
                </a:solidFill>
                <a:latin typeface="Calibri"/>
              </a:rPr>
              <a:t>51 hub agents </a:t>
            </a:r>
            <a:r>
              <a:rPr sz="1400" b="0">
                <a:solidFill>
                  <a:srgbClr val="1B2430"/>
                </a:solidFill>
                <a:latin typeface="Calibri"/>
              </a:rPr>
              <a:t>account for 644 of the 778 alerts.</a:t>
            </a:r>
          </a:p>
          <a:p>
            <a:pPr marL="201168" indent="-201168">
              <a:spcAft>
                <a:spcPts val="800"/>
              </a:spcAft>
              <a:buChar char="•"/>
            </a:pPr>
            <a:r>
              <a:rPr sz="1400" b="1">
                <a:solidFill>
                  <a:srgbClr val="1B2430"/>
                </a:solidFill>
                <a:latin typeface="Calibri"/>
              </a:rPr>
              <a:t>Their unflagged records are fraud 12.3% of the time, </a:t>
            </a:r>
            <a:r>
              <a:rPr sz="1400" b="0">
                <a:solidFill>
                  <a:srgbClr val="1B2430"/>
                </a:solidFill>
                <a:latin typeface="Calibri"/>
              </a:rPr>
              <a:t>about 4 times the 2.8% for other agents: 91 fraud records the rules and model missed.</a:t>
            </a:r>
          </a:p>
          <a:p>
            <a:pPr marL="201168" indent="-201168">
              <a:spcAft>
                <a:spcPts val="800"/>
              </a:spcAft>
              <a:buChar char="•"/>
            </a:pPr>
            <a:r>
              <a:rPr sz="1400" b="1">
                <a:solidFill>
                  <a:srgbClr val="1B2430"/>
                </a:solidFill>
                <a:latin typeface="Calibri"/>
              </a:rPr>
              <a:t>The network agent </a:t>
            </a:r>
            <a:r>
              <a:rPr sz="1400" b="0">
                <a:solidFill>
                  <a:srgbClr val="1B2430"/>
                </a:solidFill>
                <a:latin typeface="Calibri"/>
              </a:rPr>
              <a:t>examines a hub's links and suggests up to 10 unflagged records for review.</a:t>
            </a:r>
          </a:p>
          <a:p>
            <a:pPr marL="201168" indent="-201168">
              <a:spcAft>
                <a:spcPts val="800"/>
              </a:spcAft>
              <a:buChar char="•"/>
            </a:pPr>
            <a:r>
              <a:rPr sz="1400" b="1">
                <a:solidFill>
                  <a:srgbClr val="1B2430"/>
                </a:solidFill>
                <a:latin typeface="Calibri"/>
              </a:rPr>
              <a:t>Built from alerts only, </a:t>
            </a:r>
            <a:r>
              <a:rPr sz="1400" b="0">
                <a:solidFill>
                  <a:srgbClr val="1B2430"/>
                </a:solidFill>
                <a:latin typeface="Calibri"/>
              </a:rPr>
              <a:t>never from labels.</a:t>
            </a:r>
          </a:p>
        </p:txBody>
      </p:sp>
      <p:sp>
        <p:nvSpPr>
          <p:cNvPr id="7" name="TextBox 6"/>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8" name="TextBox 7"/>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768096"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DELIVERY</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Investigator dashboard on Cloud Run</a:t>
            </a:r>
          </a:p>
        </p:txBody>
      </p:sp>
      <p:sp>
        <p:nvSpPr>
          <p:cNvPr id="4" name="Rounded Rectangle 3"/>
          <p:cNvSpPr/>
          <p:nvPr/>
        </p:nvSpPr>
        <p:spPr>
          <a:xfrm>
            <a:off x="548640" y="1783080"/>
            <a:ext cx="3474720" cy="2103120"/>
          </a:xfrm>
          <a:prstGeom prst="roundRect">
            <a:avLst>
              <a:gd name="adj" fmla="val 8000"/>
            </a:avLst>
          </a:prstGeom>
          <a:solidFill>
            <a:srgbClr val="E2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965960"/>
            <a:ext cx="3017520" cy="411480"/>
          </a:xfrm>
          <a:prstGeom prst="rect">
            <a:avLst/>
          </a:prstGeom>
          <a:noFill/>
        </p:spPr>
        <p:txBody>
          <a:bodyPr wrap="square" lIns="0" tIns="0" rIns="0" bIns="0" anchor="t">
            <a:spAutoFit/>
          </a:bodyPr>
          <a:lstStyle/>
          <a:p>
            <a:pPr algn="l">
              <a:spcAft>
                <a:spcPts val="0"/>
              </a:spcAft>
            </a:pPr>
            <a:r>
              <a:rPr sz="1800" b="1" i="0">
                <a:solidFill>
                  <a:srgbClr val="1F7A74"/>
                </a:solidFill>
                <a:latin typeface="Cambria"/>
              </a:rPr>
              <a:t>Alert queue</a:t>
            </a:r>
          </a:p>
        </p:txBody>
      </p:sp>
      <p:sp>
        <p:nvSpPr>
          <p:cNvPr id="6" name="TextBox 5"/>
          <p:cNvSpPr txBox="1"/>
          <p:nvPr/>
        </p:nvSpPr>
        <p:spPr>
          <a:xfrm>
            <a:off x="777240" y="2468880"/>
            <a:ext cx="3017520" cy="137160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All 778 alerts by priority, with status: open, case ready or decided. Filters by file, severity and network hubs.</a:t>
            </a:r>
          </a:p>
        </p:txBody>
      </p:sp>
      <p:sp>
        <p:nvSpPr>
          <p:cNvPr id="7" name="Rounded Rectangle 6"/>
          <p:cNvSpPr/>
          <p:nvPr/>
        </p:nvSpPr>
        <p:spPr>
          <a:xfrm>
            <a:off x="4297679" y="1783080"/>
            <a:ext cx="3474720" cy="2103120"/>
          </a:xfrm>
          <a:prstGeom prst="roundRect">
            <a:avLst>
              <a:gd name="adj" fmla="val 8000"/>
            </a:avLst>
          </a:prstGeom>
          <a:solidFill>
            <a:srgbClr val="FCF1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26279" y="1965960"/>
            <a:ext cx="3017520" cy="411480"/>
          </a:xfrm>
          <a:prstGeom prst="rect">
            <a:avLst/>
          </a:prstGeom>
          <a:noFill/>
        </p:spPr>
        <p:txBody>
          <a:bodyPr wrap="square" lIns="0" tIns="0" rIns="0" bIns="0" anchor="t">
            <a:spAutoFit/>
          </a:bodyPr>
          <a:lstStyle/>
          <a:p>
            <a:pPr algn="l">
              <a:spcAft>
                <a:spcPts val="0"/>
              </a:spcAft>
            </a:pPr>
            <a:r>
              <a:rPr sz="1800" b="1" i="0">
                <a:solidFill>
                  <a:srgbClr val="E09A2B"/>
                </a:solidFill>
                <a:latin typeface="Cambria"/>
              </a:rPr>
              <a:t>Case view</a:t>
            </a:r>
          </a:p>
        </p:txBody>
      </p:sp>
      <p:sp>
        <p:nvSpPr>
          <p:cNvPr id="9" name="TextBox 8"/>
          <p:cNvSpPr txBox="1"/>
          <p:nvPr/>
        </p:nvSpPr>
        <p:spPr>
          <a:xfrm>
            <a:off x="4526279" y="2468880"/>
            <a:ext cx="3017520" cy="137160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Risk after review, cited evidence with the reviewer's check of each fact, next steps, people involved and network context.</a:t>
            </a:r>
          </a:p>
        </p:txBody>
      </p:sp>
      <p:sp>
        <p:nvSpPr>
          <p:cNvPr id="10" name="Rounded Rectangle 9"/>
          <p:cNvSpPr/>
          <p:nvPr/>
        </p:nvSpPr>
        <p:spPr>
          <a:xfrm>
            <a:off x="8046719" y="1783080"/>
            <a:ext cx="3474720" cy="2103120"/>
          </a:xfrm>
          <a:prstGeom prst="roundRect">
            <a:avLst>
              <a:gd name="adj" fmla="val 8000"/>
            </a:avLst>
          </a:prstGeom>
          <a:solidFill>
            <a:srgbClr val="F8E5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75319" y="1965960"/>
            <a:ext cx="3017520" cy="411480"/>
          </a:xfrm>
          <a:prstGeom prst="rect">
            <a:avLst/>
          </a:prstGeom>
          <a:noFill/>
        </p:spPr>
        <p:txBody>
          <a:bodyPr wrap="square" lIns="0" tIns="0" rIns="0" bIns="0" anchor="t">
            <a:spAutoFit/>
          </a:bodyPr>
          <a:lstStyle/>
          <a:p>
            <a:pPr algn="l">
              <a:spcAft>
                <a:spcPts val="0"/>
              </a:spcAft>
            </a:pPr>
            <a:r>
              <a:rPr sz="1800" b="1" i="0">
                <a:solidFill>
                  <a:srgbClr val="B03A2E"/>
                </a:solidFill>
                <a:latin typeface="Cambria"/>
              </a:rPr>
              <a:t>Decisions</a:t>
            </a:r>
          </a:p>
        </p:txBody>
      </p:sp>
      <p:sp>
        <p:nvSpPr>
          <p:cNvPr id="12" name="TextBox 11"/>
          <p:cNvSpPr txBox="1"/>
          <p:nvPr/>
        </p:nvSpPr>
        <p:spPr>
          <a:xfrm>
            <a:off x="8275319" y="2468880"/>
            <a:ext cx="3017520" cy="1371600"/>
          </a:xfrm>
          <a:prstGeom prst="rect">
            <a:avLst/>
          </a:prstGeom>
          <a:noFill/>
        </p:spPr>
        <p:txBody>
          <a:bodyPr wrap="square" lIns="0" tIns="0" rIns="0" bIns="0" anchor="t">
            <a:spAutoFit/>
          </a:bodyPr>
          <a:lstStyle/>
          <a:p>
            <a:pPr algn="l">
              <a:spcAft>
                <a:spcPts val="0"/>
              </a:spcAft>
            </a:pPr>
            <a:r>
              <a:rPr sz="1300" b="0" i="0">
                <a:solidFill>
                  <a:srgbClr val="1B2430"/>
                </a:solidFill>
                <a:latin typeface="Calibri"/>
              </a:rPr>
              <a:t>Confirm fraud, not fraud or needs more information. Saved to BigQuery as new labels for retraining.</a:t>
            </a:r>
          </a:p>
        </p:txBody>
      </p:sp>
      <p:sp>
        <p:nvSpPr>
          <p:cNvPr id="13" name="TextBox 12"/>
          <p:cNvSpPr txBox="1"/>
          <p:nvPr/>
        </p:nvSpPr>
        <p:spPr>
          <a:xfrm>
            <a:off x="548640" y="4206240"/>
            <a:ext cx="11064240" cy="365760"/>
          </a:xfrm>
          <a:prstGeom prst="rect">
            <a:avLst/>
          </a:prstGeom>
          <a:noFill/>
        </p:spPr>
        <p:txBody>
          <a:bodyPr wrap="square" lIns="0" tIns="0" rIns="0" bIns="0" anchor="t">
            <a:spAutoFit/>
          </a:bodyPr>
          <a:lstStyle/>
          <a:p>
            <a:pPr algn="l">
              <a:spcAft>
                <a:spcPts val="0"/>
              </a:spcAft>
            </a:pPr>
            <a:r>
              <a:rPr sz="1600" b="1" i="0">
                <a:solidFill>
                  <a:srgbClr val="14213D"/>
                </a:solidFill>
                <a:latin typeface="Calibri"/>
              </a:rPr>
              <a:t>Deployment</a:t>
            </a:r>
          </a:p>
        </p:txBody>
      </p:sp>
      <p:sp>
        <p:nvSpPr>
          <p:cNvPr id="14" name="TextBox 13"/>
          <p:cNvSpPr txBox="1"/>
          <p:nvPr/>
        </p:nvSpPr>
        <p:spPr>
          <a:xfrm>
            <a:off x="548640" y="4617720"/>
            <a:ext cx="5486400" cy="1645920"/>
          </a:xfrm>
          <a:prstGeom prst="rect">
            <a:avLst/>
          </a:prstGeom>
          <a:noFill/>
        </p:spPr>
        <p:txBody>
          <a:bodyPr wrap="square" lIns="0" tIns="0" rIns="0" bIns="0">
            <a:spAutoFit/>
          </a:bodyPr>
          <a:lstStyle/>
          <a:p>
            <a:pPr marL="201168" indent="-201168">
              <a:spcAft>
                <a:spcPts val="500"/>
              </a:spcAft>
              <a:buChar char="•"/>
            </a:pPr>
            <a:r>
              <a:rPr sz="1300" b="0">
                <a:solidFill>
                  <a:srgbClr val="1B2430"/>
                </a:solidFill>
                <a:latin typeface="Calibri"/>
              </a:rPr>
              <a:t>Cloud Run in Mumbai; scales to zero when idle.</a:t>
            </a:r>
          </a:p>
          <a:p>
            <a:pPr marL="201168" indent="-201168">
              <a:spcAft>
                <a:spcPts val="500"/>
              </a:spcAft>
              <a:buChar char="•"/>
            </a:pPr>
            <a:r>
              <a:rPr sz="1300" b="0">
                <a:solidFill>
                  <a:srgbClr val="1B2430"/>
                </a:solidFill>
                <a:latin typeface="Calibri"/>
              </a:rPr>
              <a:t>Private: anonymous visitors are refused (HTTP 403).</a:t>
            </a:r>
          </a:p>
          <a:p>
            <a:pPr marL="201168" indent="-201168">
              <a:spcAft>
                <a:spcPts val="500"/>
              </a:spcAft>
              <a:buChar char="•"/>
            </a:pPr>
            <a:r>
              <a:rPr sz="1300" b="0">
                <a:solidFill>
                  <a:srgbClr val="1B2430"/>
                </a:solidFill>
                <a:latin typeface="Calibri"/>
              </a:rPr>
              <a:t>“Investigate now” runs the full agent pipeline on demand.</a:t>
            </a:r>
          </a:p>
        </p:txBody>
      </p:sp>
      <p:sp>
        <p:nvSpPr>
          <p:cNvPr id="15" name="TextBox 14"/>
          <p:cNvSpPr txBox="1"/>
          <p:nvPr/>
        </p:nvSpPr>
        <p:spPr>
          <a:xfrm>
            <a:off x="6309360" y="4617720"/>
            <a:ext cx="5303520" cy="1645920"/>
          </a:xfrm>
          <a:prstGeom prst="rect">
            <a:avLst/>
          </a:prstGeom>
          <a:noFill/>
        </p:spPr>
        <p:txBody>
          <a:bodyPr wrap="square" lIns="0" tIns="0" rIns="0" bIns="0">
            <a:spAutoFit/>
          </a:bodyPr>
          <a:lstStyle/>
          <a:p>
            <a:pPr marL="201168" indent="-201168">
              <a:spcAft>
                <a:spcPts val="500"/>
              </a:spcAft>
              <a:buChar char="•"/>
            </a:pPr>
            <a:r>
              <a:rPr sz="1300" b="0">
                <a:solidFill>
                  <a:srgbClr val="1B2430"/>
                </a:solidFill>
                <a:latin typeface="Calibri"/>
              </a:rPr>
              <a:t>Least-privilege service accounts for running, building and access.</a:t>
            </a:r>
          </a:p>
          <a:p>
            <a:pPr marL="201168" indent="-201168">
              <a:spcAft>
                <a:spcPts val="500"/>
              </a:spcAft>
              <a:buChar char="•"/>
            </a:pPr>
            <a:r>
              <a:rPr sz="1300" b="0">
                <a:solidFill>
                  <a:srgbClr val="1B2430"/>
                </a:solidFill>
                <a:latin typeface="Calibri"/>
              </a:rPr>
              <a:t>Can read cleaned data; writes only cases and decisions.</a:t>
            </a:r>
          </a:p>
          <a:p>
            <a:pPr marL="201168" indent="-201168">
              <a:spcAft>
                <a:spcPts val="500"/>
              </a:spcAft>
              <a:buChar char="•"/>
            </a:pPr>
            <a:r>
              <a:rPr sz="1300" b="0">
                <a:solidFill>
                  <a:srgbClr val="1B2430"/>
                </a:solidFill>
                <a:latin typeface="Calibri"/>
              </a:rPr>
              <a:t>Never shows labels to investigators.</a:t>
            </a:r>
          </a:p>
        </p:txBody>
      </p:sp>
      <p:sp>
        <p:nvSpPr>
          <p:cNvPr id="16" name="TextBox 15"/>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17" name="TextBox 16"/>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48640" y="411480"/>
            <a:ext cx="923544" cy="274320"/>
          </a:xfrm>
          <a:prstGeom prst="roundRect">
            <a:avLst>
              <a:gd name="adj" fmla="val 50000"/>
            </a:avLst>
          </a:prstGeom>
          <a:solidFill>
            <a:srgbClr val="1F7A7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Calibri"/>
              </a:rPr>
              <a:t>CONCLUSION</a:t>
            </a:r>
          </a:p>
        </p:txBody>
      </p:sp>
      <p:sp>
        <p:nvSpPr>
          <p:cNvPr id="3" name="TextBox 2"/>
          <p:cNvSpPr txBox="1"/>
          <p:nvPr/>
        </p:nvSpPr>
        <p:spPr>
          <a:xfrm>
            <a:off x="548640" y="777240"/>
            <a:ext cx="11064240" cy="731520"/>
          </a:xfrm>
          <a:prstGeom prst="rect">
            <a:avLst/>
          </a:prstGeom>
          <a:noFill/>
        </p:spPr>
        <p:txBody>
          <a:bodyPr wrap="square" lIns="0" tIns="0" rIns="0" bIns="0" anchor="t">
            <a:spAutoFit/>
          </a:bodyPr>
          <a:lstStyle/>
          <a:p>
            <a:pPr algn="l">
              <a:spcAft>
                <a:spcPts val="0"/>
              </a:spcAft>
            </a:pPr>
            <a:r>
              <a:rPr sz="3400" b="1" i="0">
                <a:solidFill>
                  <a:srgbClr val="14213D"/>
                </a:solidFill>
                <a:latin typeface="Cambria"/>
              </a:rPr>
              <a:t>Conclusions and future work</a:t>
            </a:r>
          </a:p>
        </p:txBody>
      </p:sp>
      <p:sp>
        <p:nvSpPr>
          <p:cNvPr id="4" name="Rounded Rectangle 3"/>
          <p:cNvSpPr/>
          <p:nvPr/>
        </p:nvSpPr>
        <p:spPr>
          <a:xfrm>
            <a:off x="548640" y="1783080"/>
            <a:ext cx="3474720" cy="4297680"/>
          </a:xfrm>
          <a:prstGeom prst="roundRect">
            <a:avLst>
              <a:gd name="adj" fmla="val 8000"/>
            </a:avLst>
          </a:prstGeom>
          <a:solidFill>
            <a:srgbClr val="E2F1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77240" y="1965960"/>
            <a:ext cx="3017520" cy="457200"/>
          </a:xfrm>
          <a:prstGeom prst="rect">
            <a:avLst/>
          </a:prstGeom>
          <a:noFill/>
        </p:spPr>
        <p:txBody>
          <a:bodyPr wrap="square" lIns="0" tIns="0" rIns="0" bIns="0" anchor="t">
            <a:spAutoFit/>
          </a:bodyPr>
          <a:lstStyle/>
          <a:p>
            <a:pPr algn="l">
              <a:spcAft>
                <a:spcPts val="0"/>
              </a:spcAft>
            </a:pPr>
            <a:r>
              <a:rPr sz="2000" b="1" i="0">
                <a:solidFill>
                  <a:srgbClr val="1F7A74"/>
                </a:solidFill>
                <a:latin typeface="Cambria"/>
              </a:rPr>
              <a:t>What worked</a:t>
            </a:r>
          </a:p>
        </p:txBody>
      </p:sp>
      <p:sp>
        <p:nvSpPr>
          <p:cNvPr id="6" name="TextBox 5"/>
          <p:cNvSpPr txBox="1"/>
          <p:nvPr/>
        </p:nvSpPr>
        <p:spPr>
          <a:xfrm>
            <a:off x="777240" y="2560320"/>
            <a:ext cx="3063240" cy="3383280"/>
          </a:xfrm>
          <a:prstGeom prst="rect">
            <a:avLst/>
          </a:prstGeom>
          <a:noFill/>
        </p:spPr>
        <p:txBody>
          <a:bodyPr wrap="square" lIns="0" tIns="0" rIns="0" bIns="0">
            <a:spAutoFit/>
          </a:bodyPr>
          <a:lstStyle/>
          <a:p>
            <a:pPr marL="201168" indent="-201168">
              <a:spcAft>
                <a:spcPts val="800"/>
              </a:spcAft>
              <a:buChar char="•"/>
            </a:pPr>
            <a:r>
              <a:rPr sz="1300" b="0">
                <a:solidFill>
                  <a:srgbClr val="1B2430"/>
                </a:solidFill>
                <a:latin typeface="Calibri"/>
              </a:rPr>
              <a:t>Rules catch 95–100% of payment and agent-sale fraud with no false alarms.</a:t>
            </a:r>
          </a:p>
          <a:p>
            <a:pPr marL="201168" indent="-201168">
              <a:spcAft>
                <a:spcPts val="800"/>
              </a:spcAft>
              <a:buChar char="•"/>
            </a:pPr>
            <a:r>
              <a:rPr sz="1300" b="0">
                <a:solidFill>
                  <a:srgbClr val="1B2430"/>
                </a:solidFill>
                <a:latin typeface="Calibri"/>
              </a:rPr>
              <a:t>Agents write cited, reviewable cases; 71 of 72 checked facts verified.</a:t>
            </a:r>
          </a:p>
          <a:p>
            <a:pPr marL="201168" indent="-201168">
              <a:spcAft>
                <a:spcPts val="800"/>
              </a:spcAft>
              <a:buChar char="•"/>
            </a:pPr>
            <a:r>
              <a:rPr sz="1300" b="0">
                <a:solidFill>
                  <a:srgbClr val="1B2430"/>
                </a:solidFill>
                <a:latin typeface="Calibri"/>
              </a:rPr>
              <a:t>Network analysis surfaces fraud the screening missed (12.3% vs 2.8%).</a:t>
            </a:r>
          </a:p>
        </p:txBody>
      </p:sp>
      <p:sp>
        <p:nvSpPr>
          <p:cNvPr id="7" name="Rounded Rectangle 6"/>
          <p:cNvSpPr/>
          <p:nvPr/>
        </p:nvSpPr>
        <p:spPr>
          <a:xfrm>
            <a:off x="4297679" y="1783080"/>
            <a:ext cx="3474720" cy="4297680"/>
          </a:xfrm>
          <a:prstGeom prst="roundRect">
            <a:avLst>
              <a:gd name="adj" fmla="val 8000"/>
            </a:avLst>
          </a:prstGeom>
          <a:solidFill>
            <a:srgbClr val="F8E5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26279" y="1965960"/>
            <a:ext cx="3017520" cy="457200"/>
          </a:xfrm>
          <a:prstGeom prst="rect">
            <a:avLst/>
          </a:prstGeom>
          <a:noFill/>
        </p:spPr>
        <p:txBody>
          <a:bodyPr wrap="square" lIns="0" tIns="0" rIns="0" bIns="0" anchor="t">
            <a:spAutoFit/>
          </a:bodyPr>
          <a:lstStyle/>
          <a:p>
            <a:pPr algn="l">
              <a:spcAft>
                <a:spcPts val="0"/>
              </a:spcAft>
            </a:pPr>
            <a:r>
              <a:rPr sz="2000" b="1" i="0">
                <a:solidFill>
                  <a:srgbClr val="B03A2E"/>
                </a:solidFill>
                <a:latin typeface="Cambria"/>
              </a:rPr>
              <a:t>Limitations</a:t>
            </a:r>
          </a:p>
        </p:txBody>
      </p:sp>
      <p:sp>
        <p:nvSpPr>
          <p:cNvPr id="9" name="TextBox 8"/>
          <p:cNvSpPr txBox="1"/>
          <p:nvPr/>
        </p:nvSpPr>
        <p:spPr>
          <a:xfrm>
            <a:off x="4526279" y="2560320"/>
            <a:ext cx="3063240" cy="3383280"/>
          </a:xfrm>
          <a:prstGeom prst="rect">
            <a:avLst/>
          </a:prstGeom>
          <a:noFill/>
        </p:spPr>
        <p:txBody>
          <a:bodyPr wrap="square" lIns="0" tIns="0" rIns="0" bIns="0">
            <a:spAutoFit/>
          </a:bodyPr>
          <a:lstStyle/>
          <a:p>
            <a:pPr marL="201168" indent="-201168">
              <a:spcAft>
                <a:spcPts val="800"/>
              </a:spcAft>
              <a:buChar char="•"/>
            </a:pPr>
            <a:r>
              <a:rPr sz="1300" b="0">
                <a:solidFill>
                  <a:srgbClr val="1B2430"/>
                </a:solidFill>
                <a:latin typeface="Calibri"/>
              </a:rPr>
              <a:t>Synthetic data: accuracy numbers will not transfer to real data.</a:t>
            </a:r>
          </a:p>
          <a:p>
            <a:pPr marL="201168" indent="-201168">
              <a:spcAft>
                <a:spcPts val="800"/>
              </a:spcAft>
              <a:buChar char="•"/>
            </a:pPr>
            <a:r>
              <a:rPr sz="1300" b="0">
                <a:solidFill>
                  <a:srgbClr val="1B2430"/>
                </a:solidFill>
                <a:latin typeface="Calibri"/>
              </a:rPr>
              <a:t>Staged, duplicate and fronting fraud leave no trace in these files.</a:t>
            </a:r>
          </a:p>
          <a:p>
            <a:pPr marL="201168" indent="-201168">
              <a:spcAft>
                <a:spcPts val="800"/>
              </a:spcAft>
              <a:buChar char="•"/>
            </a:pPr>
            <a:r>
              <a:rPr sz="1300" b="0">
                <a:solidFill>
                  <a:srgbClr val="1B2430"/>
                </a:solidFill>
                <a:latin typeface="Calibri"/>
              </a:rPr>
              <a:t>Low default Vertex AI quota limits batch runs.</a:t>
            </a:r>
          </a:p>
        </p:txBody>
      </p:sp>
      <p:sp>
        <p:nvSpPr>
          <p:cNvPr id="10" name="Rounded Rectangle 9"/>
          <p:cNvSpPr/>
          <p:nvPr/>
        </p:nvSpPr>
        <p:spPr>
          <a:xfrm>
            <a:off x="8046719" y="1783080"/>
            <a:ext cx="3474720" cy="4297680"/>
          </a:xfrm>
          <a:prstGeom prst="roundRect">
            <a:avLst>
              <a:gd name="adj" fmla="val 8000"/>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75319" y="1965960"/>
            <a:ext cx="3017520" cy="457200"/>
          </a:xfrm>
          <a:prstGeom prst="rect">
            <a:avLst/>
          </a:prstGeom>
          <a:noFill/>
        </p:spPr>
        <p:txBody>
          <a:bodyPr wrap="square" lIns="0" tIns="0" rIns="0" bIns="0" anchor="t">
            <a:spAutoFit/>
          </a:bodyPr>
          <a:lstStyle/>
          <a:p>
            <a:pPr algn="l">
              <a:spcAft>
                <a:spcPts val="0"/>
              </a:spcAft>
            </a:pPr>
            <a:r>
              <a:rPr sz="2000" b="1" i="0">
                <a:solidFill>
                  <a:srgbClr val="14213D"/>
                </a:solidFill>
                <a:latin typeface="Cambria"/>
              </a:rPr>
              <a:t>Future work</a:t>
            </a:r>
          </a:p>
        </p:txBody>
      </p:sp>
      <p:sp>
        <p:nvSpPr>
          <p:cNvPr id="12" name="TextBox 11"/>
          <p:cNvSpPr txBox="1"/>
          <p:nvPr/>
        </p:nvSpPr>
        <p:spPr>
          <a:xfrm>
            <a:off x="8275319" y="2560320"/>
            <a:ext cx="3063240" cy="3383280"/>
          </a:xfrm>
          <a:prstGeom prst="rect">
            <a:avLst/>
          </a:prstGeom>
          <a:noFill/>
        </p:spPr>
        <p:txBody>
          <a:bodyPr wrap="square" lIns="0" tIns="0" rIns="0" bIns="0">
            <a:spAutoFit/>
          </a:bodyPr>
          <a:lstStyle/>
          <a:p>
            <a:pPr marL="201168" indent="-201168">
              <a:spcAft>
                <a:spcPts val="800"/>
              </a:spcAft>
              <a:buChar char="•"/>
            </a:pPr>
            <a:r>
              <a:rPr sz="1300" b="0">
                <a:solidFill>
                  <a:srgbClr val="1B2430"/>
                </a:solidFill>
                <a:latin typeface="Calibri"/>
              </a:rPr>
              <a:t>Real data with repair-shop, hospital and document signals.</a:t>
            </a:r>
          </a:p>
          <a:p>
            <a:pPr marL="201168" indent="-201168">
              <a:spcAft>
                <a:spcPts val="800"/>
              </a:spcAft>
              <a:buChar char="•"/>
            </a:pPr>
            <a:r>
              <a:rPr sz="1300" b="0">
                <a:solidFill>
                  <a:srgbClr val="1B2430"/>
                </a:solidFill>
                <a:latin typeface="Calibri"/>
              </a:rPr>
              <a:t>Retrain from investigator decisions.</a:t>
            </a:r>
          </a:p>
          <a:p>
            <a:pPr marL="201168" indent="-201168">
              <a:spcAft>
                <a:spcPts val="800"/>
              </a:spcAft>
              <a:buChar char="•"/>
            </a:pPr>
            <a:r>
              <a:rPr sz="1300" b="0">
                <a:solidFill>
                  <a:srgbClr val="1B2430"/>
                </a:solidFill>
                <a:latin typeface="Calibri"/>
              </a:rPr>
              <a:t>Daily batch runs and a held-out test of the full pipeline.</a:t>
            </a:r>
          </a:p>
        </p:txBody>
      </p:sp>
      <p:sp>
        <p:nvSpPr>
          <p:cNvPr id="13" name="TextBox 12"/>
          <p:cNvSpPr txBox="1"/>
          <p:nvPr/>
        </p:nvSpPr>
        <p:spPr>
          <a:xfrm>
            <a:off x="548640" y="6400800"/>
            <a:ext cx="7315200" cy="274320"/>
          </a:xfrm>
          <a:prstGeom prst="rect">
            <a:avLst/>
          </a:prstGeom>
          <a:noFill/>
        </p:spPr>
        <p:txBody>
          <a:bodyPr wrap="square" lIns="0" tIns="0" rIns="0" bIns="0" anchor="t">
            <a:spAutoFit/>
          </a:bodyPr>
          <a:lstStyle/>
          <a:p>
            <a:pPr algn="l">
              <a:spcAft>
                <a:spcPts val="0"/>
              </a:spcAft>
            </a:pPr>
            <a:r>
              <a:rPr sz="1000" b="0" i="0">
                <a:solidFill>
                  <a:srgbClr val="5E6973"/>
                </a:solidFill>
                <a:latin typeface="Calibri"/>
              </a:rPr>
              <a:t>Fraud Detection AI Agent</a:t>
            </a:r>
          </a:p>
        </p:txBody>
      </p:sp>
      <p:sp>
        <p:nvSpPr>
          <p:cNvPr id="14" name="TextBox 13"/>
          <p:cNvSpPr txBox="1"/>
          <p:nvPr/>
        </p:nvSpPr>
        <p:spPr>
          <a:xfrm>
            <a:off x="10725912" y="6400800"/>
            <a:ext cx="914400" cy="274320"/>
          </a:xfrm>
          <a:prstGeom prst="rect">
            <a:avLst/>
          </a:prstGeom>
          <a:noFill/>
        </p:spPr>
        <p:txBody>
          <a:bodyPr wrap="square" lIns="0" tIns="0" rIns="0" bIns="0" anchor="t">
            <a:spAutoFit/>
          </a:bodyPr>
          <a:lstStyle/>
          <a:p>
            <a:pPr algn="r">
              <a:spcAft>
                <a:spcPts val="0"/>
              </a:spcAft>
            </a:pPr>
            <a:r>
              <a:rPr sz="1000" b="0" i="0">
                <a:solidFill>
                  <a:srgbClr val="5E6973"/>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Box 1"/>
          <p:cNvSpPr txBox="1"/>
          <p:nvPr/>
        </p:nvSpPr>
        <p:spPr>
          <a:xfrm>
            <a:off x="822960" y="2377440"/>
            <a:ext cx="10515600" cy="1097280"/>
          </a:xfrm>
          <a:prstGeom prst="rect">
            <a:avLst/>
          </a:prstGeom>
          <a:noFill/>
        </p:spPr>
        <p:txBody>
          <a:bodyPr wrap="square" lIns="0" tIns="0" rIns="0" bIns="0" anchor="t">
            <a:spAutoFit/>
          </a:bodyPr>
          <a:lstStyle/>
          <a:p>
            <a:pPr algn="l">
              <a:spcAft>
                <a:spcPts val="0"/>
              </a:spcAft>
            </a:pPr>
            <a:r>
              <a:rPr sz="5400" b="1" i="0">
                <a:solidFill>
                  <a:srgbClr val="FFFFFF"/>
                </a:solidFill>
                <a:latin typeface="Cambria"/>
              </a:rPr>
              <a:t>Thank you</a:t>
            </a:r>
          </a:p>
        </p:txBody>
      </p:sp>
      <p:sp>
        <p:nvSpPr>
          <p:cNvPr id="3" name="TextBox 2"/>
          <p:cNvSpPr txBox="1"/>
          <p:nvPr/>
        </p:nvSpPr>
        <p:spPr>
          <a:xfrm>
            <a:off x="822960" y="3566160"/>
            <a:ext cx="10515600" cy="548640"/>
          </a:xfrm>
          <a:prstGeom prst="rect">
            <a:avLst/>
          </a:prstGeom>
          <a:noFill/>
        </p:spPr>
        <p:txBody>
          <a:bodyPr wrap="square" lIns="0" tIns="0" rIns="0" bIns="0" anchor="t">
            <a:spAutoFit/>
          </a:bodyPr>
          <a:lstStyle/>
          <a:p>
            <a:pPr algn="l">
              <a:spcAft>
                <a:spcPts val="0"/>
              </a:spcAft>
            </a:pPr>
            <a:r>
              <a:rPr sz="2600" b="0" i="0">
                <a:solidFill>
                  <a:srgbClr val="E09A2B"/>
                </a:solidFill>
                <a:latin typeface="Calibri"/>
              </a:rPr>
              <a:t>Questions?</a:t>
            </a:r>
          </a:p>
        </p:txBody>
      </p:sp>
      <p:sp>
        <p:nvSpPr>
          <p:cNvPr id="4" name="TextBox 3"/>
          <p:cNvSpPr txBox="1"/>
          <p:nvPr/>
        </p:nvSpPr>
        <p:spPr>
          <a:xfrm>
            <a:off x="822960" y="4846320"/>
            <a:ext cx="10515600" cy="457200"/>
          </a:xfrm>
          <a:prstGeom prst="rect">
            <a:avLst/>
          </a:prstGeom>
          <a:noFill/>
        </p:spPr>
        <p:txBody>
          <a:bodyPr wrap="square" lIns="0" tIns="0" rIns="0" bIns="0" anchor="t">
            <a:spAutoFit/>
          </a:bodyPr>
          <a:lstStyle/>
          <a:p>
            <a:pPr algn="l">
              <a:spcAft>
                <a:spcPts val="0"/>
              </a:spcAft>
            </a:pPr>
            <a:r>
              <a:rPr sz="1600" b="0" i="0">
                <a:solidFill>
                  <a:srgbClr val="C9D6EA"/>
                </a:solidFill>
                <a:latin typeface="Calibri"/>
              </a:rPr>
              <a:t>Anand Kumar Singh  ·  IIT Bhilai  ·  2024–2026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2324</Words>
  <Application>Microsoft Macintosh PowerPoint</Application>
  <PresentationFormat>Widescreen</PresentationFormat>
  <Paragraphs>328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Neoxdev</cp:lastModifiedBy>
  <cp:revision>3</cp:revision>
  <dcterms:created xsi:type="dcterms:W3CDTF">2013-01-27T09:14:16Z</dcterms:created>
  <dcterms:modified xsi:type="dcterms:W3CDTF">2026-09-26T05:35:58Z</dcterms:modified>
  <cp:category/>
</cp:coreProperties>
</file>